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5c721c430847be" /><Relationship Type="http://schemas.openxmlformats.org/officeDocument/2006/relationships/extended-properties" Target="/docProps/app.xml" Id="R4b118d8745494a0a" /><Relationship Type="http://schemas.openxmlformats.org/officeDocument/2006/relationships/officeDocument" Target="/ppt/presentation.xml" Id="Ra44fdf5ec1fd43f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8cf62bfb04e4f7c"/>
  </p:sldMasterIdLst>
  <p:notesMasterIdLst>
    <p:notesMasterId xmlns:r="http://schemas.openxmlformats.org/officeDocument/2006/relationships" r:id="R0e048913a1a3486b"/>
  </p:notesMasterIdLst>
  <p:sldIdLst>
    <p:sldId xmlns:r="http://schemas.openxmlformats.org/officeDocument/2006/relationships" id="256" r:id="Rdc7b48fd9af54f53"/>
    <p:sldId xmlns:r="http://schemas.openxmlformats.org/officeDocument/2006/relationships" id="257" r:id="R6ddbc470f55e4242"/>
    <p:sldId xmlns:r="http://schemas.openxmlformats.org/officeDocument/2006/relationships" id="258" r:id="Ra5e1440d803f46db"/>
    <p:sldId xmlns:r="http://schemas.openxmlformats.org/officeDocument/2006/relationships" id="259" r:id="R389beb9d28c042a4"/>
    <p:sldId xmlns:r="http://schemas.openxmlformats.org/officeDocument/2006/relationships" id="260" r:id="R01e172087b934518"/>
    <p:sldId xmlns:r="http://schemas.openxmlformats.org/officeDocument/2006/relationships" id="261" r:id="R07c564b211524ff5"/>
    <p:sldId xmlns:r="http://schemas.openxmlformats.org/officeDocument/2006/relationships" id="262" r:id="R65d2dae7a985497e"/>
    <p:sldId xmlns:r="http://schemas.openxmlformats.org/officeDocument/2006/relationships" id="263" r:id="Ref7b9583ab374577"/>
  </p:sldIdLst>
  <p:sldSz cx="12192000" cy="6858000"/>
  <p:notesSz cx="6858000" cy="9144000"/>
  <p:embeddedFontLst>
    <p:embeddedFont>
      <p:font typeface="Inter"/>
      <p:regular xmlns:r="http://schemas.openxmlformats.org/officeDocument/2006/relationships" r:id="Rfaee3bab88e04dff"/>
      <p:bold xmlns:r="http://schemas.openxmlformats.org/officeDocument/2006/relationships" r:id="Rdfdd8da733d14589"/>
    </p:embeddedFont>
    <p:embeddedFont>
      <p:font typeface="Inter Medium"/>
      <p:regular xmlns:r="http://schemas.openxmlformats.org/officeDocument/2006/relationships" r:id="R05078746687d49cd"/>
    </p:embeddedFont>
    <p:embeddedFont>
      <p:font typeface="Inter SemiBold"/>
      <p:regular xmlns:r="http://schemas.openxmlformats.org/officeDocument/2006/relationships" r:id="Rb2c1eb08b9c94dcd"/>
      <p:bold xmlns:r="http://schemas.openxmlformats.org/officeDocument/2006/relationships" r:id="R7cac175b827a40d1"/>
    </p:embeddedFont>
    <p:embeddedFont>
      <p:font typeface="OpenAI Sans"/>
      <p:regular xmlns:r="http://schemas.openxmlformats.org/officeDocument/2006/relationships" r:id="Rab0fdce6648a40d0"/>
      <p:bold xmlns:r="http://schemas.openxmlformats.org/officeDocument/2006/relationships" r:id="Rfcb4346feec14506"/>
      <p:italic xmlns:r="http://schemas.openxmlformats.org/officeDocument/2006/relationships" r:id="R71a38fa797d940b5"/>
      <p:boldItalic xmlns:r="http://schemas.openxmlformats.org/officeDocument/2006/relationships" r:id="Rd56313d30fec41b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5a2e432fbac427d" /><Relationship Type="http://schemas.openxmlformats.org/officeDocument/2006/relationships/slideMaster" Target="/ppt/slideMasters/slideMaster1.xml" Id="R38cf62bfb04e4f7c" /><Relationship Type="http://schemas.openxmlformats.org/officeDocument/2006/relationships/notesMaster" Target="/ppt/notesMasters/notesMaster1.xml" Id="R0e048913a1a3486b" /><Relationship Type="http://schemas.openxmlformats.org/officeDocument/2006/relationships/presProps" Target="/ppt/presProps.xml" Id="Rc1c39cb8133a4c6c" /><Relationship Type="http://schemas.openxmlformats.org/officeDocument/2006/relationships/viewProps" Target="/ppt/viewProps.xml" Id="R1a20652d573e4a35" /><Relationship Type="http://schemas.openxmlformats.org/officeDocument/2006/relationships/tableStyles" Target="/ppt/tableStyles.xml" Id="R5065928c2bef4ea2" /><Relationship Type="http://schemas.openxmlformats.org/officeDocument/2006/relationships/font" Target="/ppt/fonts/font.dat" Id="Rfaee3bab88e04dff" /><Relationship Type="http://schemas.openxmlformats.org/officeDocument/2006/relationships/font" Target="/ppt/fonts/font2.dat" Id="Rdfdd8da733d14589" /><Relationship Type="http://schemas.openxmlformats.org/officeDocument/2006/relationships/font" Target="/ppt/fonts/font3.dat" Id="R05078746687d49cd" /><Relationship Type="http://schemas.openxmlformats.org/officeDocument/2006/relationships/font" Target="/ppt/fonts/font4.dat" Id="Rb2c1eb08b9c94dcd" /><Relationship Type="http://schemas.openxmlformats.org/officeDocument/2006/relationships/font" Target="/ppt/fonts/font5.dat" Id="R7cac175b827a40d1" /><Relationship Type="http://schemas.openxmlformats.org/officeDocument/2006/relationships/font" Target="/ppt/fonts/font6.dat" Id="Rab0fdce6648a40d0" /><Relationship Type="http://schemas.openxmlformats.org/officeDocument/2006/relationships/font" Target="/ppt/fonts/font7.dat" Id="Rfcb4346feec14506" /><Relationship Type="http://schemas.openxmlformats.org/officeDocument/2006/relationships/font" Target="/ppt/fonts/font8.dat" Id="R71a38fa797d940b5" /><Relationship Type="http://schemas.openxmlformats.org/officeDocument/2006/relationships/font" Target="/ppt/fonts/font9.dat" Id="Rd56313d30fec41b9" /><Relationship Type="http://schemas.openxmlformats.org/officeDocument/2006/relationships/slide" Target="/ppt/slides/slide1.xml" Id="Rdc7b48fd9af54f53" /><Relationship Type="http://schemas.openxmlformats.org/officeDocument/2006/relationships/slide" Target="/ppt/slides/slide2.xml" Id="R6ddbc470f55e4242" /><Relationship Type="http://schemas.openxmlformats.org/officeDocument/2006/relationships/slide" Target="/ppt/slides/slide3.xml" Id="Ra5e1440d803f46db" /><Relationship Type="http://schemas.openxmlformats.org/officeDocument/2006/relationships/slide" Target="/ppt/slides/slide4.xml" Id="R389beb9d28c042a4" /><Relationship Type="http://schemas.openxmlformats.org/officeDocument/2006/relationships/slide" Target="/ppt/slides/slide5.xml" Id="R01e172087b934518" /><Relationship Type="http://schemas.openxmlformats.org/officeDocument/2006/relationships/slide" Target="/ppt/slides/slide6.xml" Id="R07c564b211524ff5" /><Relationship Type="http://schemas.openxmlformats.org/officeDocument/2006/relationships/slide" Target="/ppt/slides/slide7.xml" Id="R65d2dae7a985497e" /><Relationship Type="http://schemas.openxmlformats.org/officeDocument/2006/relationships/slide" Target="/ppt/slides/slide8.xml" Id="Ref7b9583ab3745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0d94c448ce41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1d288de3f746ac" /><Relationship Type="http://schemas.openxmlformats.org/officeDocument/2006/relationships/notesMaster" Target="/ppt/notesMasters/notesMaster1.xml" Id="R0b7d74dc4e584f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e3b921b14c4d5f" /><Relationship Type="http://schemas.openxmlformats.org/officeDocument/2006/relationships/notesMaster" Target="/ppt/notesMasters/notesMaster1.xml" Id="R782b5029d64840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bdbb83ddc24bec" /><Relationship Type="http://schemas.openxmlformats.org/officeDocument/2006/relationships/notesMaster" Target="/ppt/notesMasters/notesMaster1.xml" Id="Rf7567c09c7474a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9df89f7a344f58" /><Relationship Type="http://schemas.openxmlformats.org/officeDocument/2006/relationships/notesMaster" Target="/ppt/notesMasters/notesMaster1.xml" Id="R7b45baf80dfd4f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429b1820d542ae" /><Relationship Type="http://schemas.openxmlformats.org/officeDocument/2006/relationships/notesMaster" Target="/ppt/notesMasters/notesMaster1.xml" Id="R212f298a815247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2eda25b41547fd" /><Relationship Type="http://schemas.openxmlformats.org/officeDocument/2006/relationships/notesMaster" Target="/ppt/notesMasters/notesMaster1.xml" Id="Re992ea4a545e4e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e659c928534825" /><Relationship Type="http://schemas.openxmlformats.org/officeDocument/2006/relationships/notesMaster" Target="/ppt/notesMasters/notesMaster1.xml" Id="Rce7c2ca992ff44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463dc42a0d47c2" /><Relationship Type="http://schemas.openxmlformats.org/officeDocument/2006/relationships/notesMaster" Target="/ppt/notesMasters/notesMaster1.xml" Id="Rccc8fd08412f4c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 Open with the tension: prices are visible, but financed buyers qualify on a monthly payment. Source: repository README.md, Overview and Audience.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0:45. Audience: renters roughly 25–40 deciding whether buying is realistic. The analysis evaluates market prices, financing, income, rent, and saving. It does not judge household spending choices. Source: README.md Audience and Key finding 8; data/processed/affordability.csv.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0:55. The project uses 23 national FRED series, 20 metro Case-Shiller series, Census HVS Tables 19 and 11A, and CPS ASEC Table H-10. The annual analysis begins in 1984. Source: README.md Data sources and Generated tables; src/config.py; src/clean.py.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1:05. Modeled PITI assumes 20% down, a 30-year fixed loan, and taxes plus insurance at 1.75% of value. From 2021 to 2023, modeled PITI rose $1,002 per month. The counterfactual split assigns $209 to price, $712 to rates, and $81 to interaction. This is arithmetic attribution, not causal inference. Source: data/processed/payment_decomposition.csv and affordability.csv; src/features.py.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 2021 anchor is unusually favorable to a rate story because it was the mortgage-rate trough. The sensitivity sweep uses every base year from 2005 through 2021 and a common 2025 endpoint. In constant 2024 dollars, rates lead from 2012 onward. Nominally, rates lead only from 2020 because CPI rose about 60% across the window. Source: data/processed/decomposition_sensitivity.csv; README.md Key finding 3 and Engineered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A score of 100 means the median 25–34 household meets the project benchmark. The index fell from 94.8 in 2021 to 70.3 in 2023. The early 1980s still look worse on monthly qualification: 63.8 in 1984 versus 75.6 in 2024. The entry barrier moved the other way: years to save a 20% down payment rose from 6.7 to 9.3. Source: data/processed/affordability.csv; README.md Key findings 5 and 6; src/features.py.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Keep the interpretation narrow. The new-home median can change with the mix sold. The 25–34 income cohort and under-35 homeownership cohort are close but not identical. Census survey estimates also carry sampling error. Case-Shiller, Freddie Mac, and Realtor.com series have reuse restrictions that must follow the source rights notices. Source: README.md Limitations, bias, and ethical considerations; README.md Source rights and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0:45. Close on the distinction between carrying cost and entry cost. The down-payment estimate assumes the household saves 10% of annual income. The strongest claim is about the standardized model and the time trend, not the affordability of any individual home. Source: repository README.md Key findings and Limitations.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92e724a9e346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83e3cd9e5141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005d31b72248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7387d079604d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3990d00d754a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b36287f0a54ca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9954ac0f56f47d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5db0624502b430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cb58bdff9334b68" /><Relationship Type="http://schemas.openxmlformats.org/officeDocument/2006/relationships/image" Target="/ppt/media/image.png" Id="Rd4e2a211add141d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4ef5c622fb640cb" /><Relationship Type="http://schemas.openxmlformats.org/officeDocument/2006/relationships/image" Target="/ppt/media/image2.png" Id="R87edf72c49fb4b4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d4e2a211add141db">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87edf72c49fb4b44">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54640c17be49ad" /><Relationship Type="http://schemas.openxmlformats.org/officeDocument/2006/relationships/slideLayout" Target="/ppt/slideLayouts/slideLayout1.xml" Id="R2b17ab057c124d7d" /><Relationship Type="http://schemas.openxmlformats.org/officeDocument/2006/relationships/slideLayout" Target="/ppt/slideLayouts/slideLayout2.xml" Id="Ra57c2059d89f49d0" /><Relationship Type="http://schemas.openxmlformats.org/officeDocument/2006/relationships/slideLayout" Target="/ppt/slideLayouts/slideLayout3.xml" Id="Rcb91f367357e43a9" /><Relationship Type="http://schemas.openxmlformats.org/officeDocument/2006/relationships/slideLayout" Target="/ppt/slideLayouts/slideLayout4.xml" Id="R5208cc413ba74262" /><Relationship Type="http://schemas.openxmlformats.org/officeDocument/2006/relationships/slideLayout" Target="/ppt/slideLayouts/slideLayout5.xml" Id="R17acf19fed684057" /><Relationship Type="http://schemas.openxmlformats.org/officeDocument/2006/relationships/slideLayout" Target="/ppt/slideLayouts/slideLayout6.xml" Id="Rc608778add344760" /><Relationship Type="http://schemas.openxmlformats.org/officeDocument/2006/relationships/slideLayout" Target="/ppt/slideLayouts/slideLayout7.xml" Id="Rbf92057f7fa044d4" /><Relationship Type="http://schemas.openxmlformats.org/officeDocument/2006/relationships/slideLayout" Target="/ppt/slideLayouts/slideLayout8.xml" Id="Reb3ffff48c8d4724" /><Relationship Type="http://schemas.openxmlformats.org/officeDocument/2006/relationships/slideLayout" Target="/ppt/slideLayouts/slideLayout9.xml" Id="Rc4a7378fdee449c2" /><Relationship Type="http://schemas.openxmlformats.org/officeDocument/2006/relationships/slideLayout" Target="/ppt/slideLayouts/slideLayout10.xml" Id="Rd268c87447c643c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17ab057c124d7d"/>
    <p:sldLayoutId xmlns:r="http://schemas.openxmlformats.org/officeDocument/2006/relationships" id="2147483650" r:id="Ra57c2059d89f49d0"/>
    <p:sldLayoutId xmlns:r="http://schemas.openxmlformats.org/officeDocument/2006/relationships" id="2147483651" r:id="Rcb91f367357e43a9"/>
    <p:sldLayoutId xmlns:r="http://schemas.openxmlformats.org/officeDocument/2006/relationships" id="2147483652" r:id="R5208cc413ba74262"/>
    <p:sldLayoutId xmlns:r="http://schemas.openxmlformats.org/officeDocument/2006/relationships" id="2147483653" r:id="R17acf19fed684057"/>
    <p:sldLayoutId xmlns:r="http://schemas.openxmlformats.org/officeDocument/2006/relationships" id="2147483654" r:id="Rc608778add344760"/>
    <p:sldLayoutId xmlns:r="http://schemas.openxmlformats.org/officeDocument/2006/relationships" id="2147483655" r:id="Rbf92057f7fa044d4"/>
    <p:sldLayoutId xmlns:r="http://schemas.openxmlformats.org/officeDocument/2006/relationships" id="2147483656" r:id="Reb3ffff48c8d4724"/>
    <p:sldLayoutId xmlns:r="http://schemas.openxmlformats.org/officeDocument/2006/relationships" id="2147483657" r:id="Rc4a7378fdee449c2"/>
    <p:sldLayoutId xmlns:r="http://schemas.openxmlformats.org/officeDocument/2006/relationships" id="2147483658" r:id="Rd268c87447c643cb"/>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2ea4c15d8c4bbf" /><Relationship Type="http://schemas.openxmlformats.org/officeDocument/2006/relationships/image" Target="/ppt/media/image3.png" Id="Rfaac4de3b2264c67" /><Relationship Type="http://schemas.openxmlformats.org/officeDocument/2006/relationships/notesSlide" Target="/ppt/notesSlides/notesSlide1.xml" Id="Rb02ad37b0b6d4e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0d7adb22264af7" /><Relationship Type="http://schemas.openxmlformats.org/officeDocument/2006/relationships/notesSlide" Target="/ppt/notesSlides/notesSlide2.xml" Id="Rb7026c2c99354a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4d596332c44e3f" /><Relationship Type="http://schemas.openxmlformats.org/officeDocument/2006/relationships/notesSlide" Target="/ppt/notesSlides/notesSlide3.xml" Id="Ra6ca7d20f2ac40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c24a4705cf474c" /><Relationship Type="http://schemas.openxmlformats.org/officeDocument/2006/relationships/chart" Target="/ppt/slides/charts/chart1.xml" Id="R52bcc08b32f74b63" /><Relationship Type="http://schemas.openxmlformats.org/officeDocument/2006/relationships/notesSlide" Target="/ppt/notesSlides/notesSlide4.xml" Id="R1e595a6c608a4e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ff134eb78249a8" /><Relationship Type="http://schemas.openxmlformats.org/officeDocument/2006/relationships/chart" Target="/ppt/slides/charts/chart2.xml" Id="Rb8113eefc15e49de" /><Relationship Type="http://schemas.openxmlformats.org/officeDocument/2006/relationships/notesSlide" Target="/ppt/notesSlides/notesSlide5.xml" Id="R080611e109fd42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6832f1c6cf4269" /><Relationship Type="http://schemas.openxmlformats.org/officeDocument/2006/relationships/chart" Target="/ppt/slides/charts/chart3.xml" Id="R7e20d09dcc124ab5" /><Relationship Type="http://schemas.openxmlformats.org/officeDocument/2006/relationships/notesSlide" Target="/ppt/notesSlides/notesSlide6.xml" Id="Rb0383b755cd543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ac185534052a4443" /><Relationship Type="http://schemas.openxmlformats.org/officeDocument/2006/relationships/notesSlide" Target="/ppt/notesSlides/notesSlide7.xml" Id="R0d9330a6bc4344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178f56f4da41f6" /><Relationship Type="http://schemas.openxmlformats.org/officeDocument/2006/relationships/notesSlide" Target="/ppt/notesSlides/notesSlide8.xml" Id="Ref9c6d8969154b58" /></Relationships>
</file>

<file path=ppt/slides/charts/chart1.xml><?xml version="1.0" encoding="utf-8"?>
<c:chartSpace xmlns:c="http://schemas.openxmlformats.org/drawingml/2006/chart">
  <c:lang val="en-US"/>
  <c:chart>
    <c:plotArea>
      <c:barChart>
        <c:barDir val="col"/>
        <c:grouping val="stacked"/>
        <c:varyColors val="0"/>
        <c:ser>
          <c:idx val="0"/>
          <c:order val="0"/>
          <c:tx>
            <c:v>Higher prices</c:v>
          </c:tx>
          <c:spPr>
            <a:solidFill xmlns:a="http://schemas.openxmlformats.org/drawingml/2006/main">
              <a:srgbClr val="0072B2"/>
            </a:solidFill>
          </c:spPr>
          <c:cat>
            <c:numLit>
              <c:formatCode>General</c:formatCode>
              <c:ptCount val="4"/>
              <c:pt idx="0">
                <c:v>2022</c:v>
              </c:pt>
              <c:pt idx="1">
                <c:v>2023</c:v>
              </c:pt>
              <c:pt idx="2">
                <c:v>2024</c:v>
              </c:pt>
              <c:pt idx="3">
                <c:v>2025</c:v>
              </c:pt>
            </c:numLit>
          </c:cat>
          <c:val>
            <c:numLit>
              <c:formatCode>$#,##0</c:formatCode>
              <c:ptCount val="4"/>
              <c:pt idx="0">
                <c:v>240.36367718711426</c:v>
              </c:pt>
              <c:pt idx="1">
                <c:v>209.4460270184013</c:v>
              </c:pt>
              <c:pt idx="2">
                <c:v>173.11478051664517</c:v>
              </c:pt>
              <c:pt idx="3">
                <c:v>155.9115743916418</c:v>
              </c:pt>
            </c:numLit>
          </c:val>
        </c:ser>
        <c:ser>
          <c:idx val="1"/>
          <c:order val="1"/>
          <c:tx>
            <c:v>Higher rates</c:v>
          </c:tx>
          <c:spPr>
            <a:solidFill xmlns:a="http://schemas.openxmlformats.org/drawingml/2006/main">
              <a:srgbClr val="D55E00"/>
            </a:solidFill>
          </c:spPr>
          <c:cat>
            <c:numLit>
              <c:formatCode>General</c:formatCode>
              <c:ptCount val="4"/>
              <c:pt idx="0">
                <c:v>2022</c:v>
              </c:pt>
              <c:pt idx="1">
                <c:v>2023</c:v>
              </c:pt>
              <c:pt idx="2">
                <c:v>2024</c:v>
              </c:pt>
              <c:pt idx="3">
                <c:v>2025</c:v>
              </c:pt>
            </c:numLit>
          </c:cat>
          <c:val>
            <c:numLit>
              <c:formatCode>$#,##0</c:formatCode>
              <c:ptCount val="4"/>
              <c:pt idx="0">
                <c:v>422.20262266946065</c:v>
              </c:pt>
              <c:pt idx="1">
                <c:v>712.0677893334496</c:v>
              </c:pt>
              <c:pt idx="2">
                <c:v>697.457070338779</c:v>
              </c:pt>
              <c:pt idx="3">
                <c:v>671.5287532836301</c:v>
              </c:pt>
            </c:numLit>
          </c:val>
        </c:ser>
        <c:ser>
          <c:idx val="2"/>
          <c:order val="2"/>
          <c:tx>
            <c:v>Interaction</c:v>
          </c:tx>
          <c:spPr>
            <a:solidFill xmlns:a="http://schemas.openxmlformats.org/drawingml/2006/main">
              <a:srgbClr val="8A6F00"/>
            </a:solidFill>
          </c:spPr>
          <c:cat>
            <c:numLit>
              <c:formatCode>General</c:formatCode>
              <c:ptCount val="4"/>
              <c:pt idx="0">
                <c:v>2022</c:v>
              </c:pt>
              <c:pt idx="1">
                <c:v>2023</c:v>
              </c:pt>
              <c:pt idx="2">
                <c:v>2024</c:v>
              </c:pt>
              <c:pt idx="3">
                <c:v>2025</c:v>
              </c:pt>
            </c:numLit>
          </c:cat>
          <c:val>
            <c:numLit>
              <c:formatCode>$#,##0</c:formatCode>
              <c:ptCount val="4"/>
              <c:pt idx="0">
                <c:v>55.062718021774344</c:v>
              </c:pt>
              <c:pt idx="1">
                <c:v>80.9210196625022</c:v>
              </c:pt>
              <c:pt idx="2">
                <c:v>65.51179661994138</c:v>
              </c:pt>
              <c:pt idx="3">
                <c:v>56.80817651798861</c:v>
              </c:pt>
            </c:numLit>
          </c:val>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gapWidth val="62"/>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7DE"/>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crossAx val="48672768"/>
      </c:catAx>
      <c:valAx>
        <c:axId val="48672768"/>
        <c:scaling>
          <c:orientation val="minMax"/>
        </c:scaling>
        <c:delete val="0"/>
        <c:axPos val="l"/>
        <c:majorGridlines>
          <c:spPr>
            <a:ln xmlns:a="http://schemas.openxmlformats.org/drawingml/2006/main" w="9525">
              <a:solidFill>
                <a:srgbClr val="CBD7DE"/>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11111"/>
                    </a:solidFill>
                    <a:latin typeface="Inter"/>
                    <a:ea typeface="Inter"/>
                    <a:cs typeface="Inter"/>
                  </a:rPr>
                  <a:t>Added monthly PITI versus 2021</a:t>
                </a:r>
              </a:p>
            </c:rich>
          </c:tx>
          <c:overlay val="0"/>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title>
        <c:numFmt formatCode="$#,##0"/>
        <c:majorTickMark val="none"/>
        <c:minorTickMark val="none"/>
        <c:spPr>
          <a:ln xmlns:a="http://schemas.openxmlformats.org/drawingml/2006/main" w="9525">
            <a:solidFill>
              <a:srgbClr val="CBD7DE"/>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varyColors val="0"/>
        <c:ser>
          <c:idx val="0"/>
          <c:order val="0"/>
          <c:tx>
            <c:v>Real price effect</c:v>
          </c:tx>
          <c:spPr>
            <a:ln xmlns:a="http://schemas.openxmlformats.org/drawingml/2006/main" w="28575">
              <a:solidFill>
                <a:srgbClr val="1F5A73"/>
              </a:solidFill>
              <a:prstDash val="solid"/>
            </a:ln>
          </c:spPr>
          <c:marker>
            <c:symbol val="circle"/>
            <c:size val="7"/>
            <c:spPr>
              <a:solidFill xmlns:a="http://schemas.openxmlformats.org/drawingml/2006/main">
                <a:srgbClr val="1F5A73"/>
              </a:solidFill>
            </c:spPr>
          </c:marker>
          <c:cat>
            <c:numLit>
              <c:formatCode>General</c:formatCode>
              <c:ptCount val="17"/>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Lit>
          </c:cat>
          <c:val>
            <c:numLit>
              <c:formatCode>$#,##0;-$#,##0</c:formatCode>
              <c:ptCount val="17"/>
              <c:pt idx="0">
                <c:v>152.8901981359395</c:v>
              </c:pt>
              <c:pt idx="1">
                <c:v>164.12197632627704</c:v>
              </c:pt>
              <c:pt idx="2">
                <c:v>219.59229361680082</c:v>
              </c:pt>
              <c:pt idx="3">
                <c:v>440.42624945966827</c:v>
              </c:pt>
              <c:pt idx="4">
                <c:v>516.4266262545802</c:v>
              </c:pt>
              <c:pt idx="5">
                <c:v>472.8213174393868</c:v>
              </c:pt>
              <c:pt idx="6">
                <c:v>500.06206537878506</c:v>
              </c:pt>
              <c:pt idx="7">
                <c:v>362.5370357721615</c:v>
              </c:pt>
              <c:pt idx="8">
                <c:v>243.61811319409708</c:v>
              </c:pt>
              <c:pt idx="9">
                <c:v>139.4356020731252</c:v>
              </c:pt>
              <c:pt idx="10">
                <c:v>80.19684846589848</c:v>
              </c:pt>
              <c:pt idx="11">
                <c:v>30.32078368356997</c:v>
              </c:pt>
              <c:pt idx="12">
                <c:v>-41.61536191086907</c:v>
              </c:pt>
              <c:pt idx="13">
                <c:v>-9.00067090681705</c:v>
              </c:pt>
              <c:pt idx="14">
                <c:v>61.7887947617146</c:v>
              </c:pt>
              <c:pt idx="15">
                <c:v>34.47796810941736</c:v>
              </c:pt>
              <c:pt idx="16">
                <c:v>-185.9877697888105</c:v>
              </c:pt>
            </c:numLit>
          </c:val>
          <c:smooth val="0"/>
        </c:ser>
        <c:ser>
          <c:idx val="1"/>
          <c:order val="1"/>
          <c:tx>
            <c:v>Real rate effect</c:v>
          </c:tx>
          <c:spPr>
            <a:ln xmlns:a="http://schemas.openxmlformats.org/drawingml/2006/main" w="28575">
              <a:solidFill>
                <a:srgbClr val="D55E00"/>
              </a:solidFill>
              <a:prstDash val="solid"/>
            </a:ln>
          </c:spPr>
          <c:marker>
            <c:symbol val="diamond"/>
            <c:size val="7"/>
            <c:spPr>
              <a:solidFill xmlns:a="http://schemas.openxmlformats.org/drawingml/2006/main">
                <a:srgbClr val="D55E00"/>
              </a:solidFill>
            </c:spPr>
          </c:marker>
          <c:cat>
            <c:numLit>
              <c:formatCode>General</c:formatCode>
              <c:ptCount val="17"/>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numLit>
          </c:cat>
          <c:val>
            <c:numLit>
              <c:formatCode>$#,##0;-$#,##0</c:formatCode>
              <c:ptCount val="17"/>
              <c:pt idx="0">
                <c:v>144.3942484301797</c:v>
              </c:pt>
              <c:pt idx="1">
                <c:v>36.93781365825134</c:v>
              </c:pt>
              <c:pt idx="2">
                <c:v>49.73041229593127</c:v>
              </c:pt>
              <c:pt idx="3">
                <c:v>97.71367377238721</c:v>
              </c:pt>
              <c:pt idx="4">
                <c:v>249.78955729205336</c:v>
              </c:pt>
              <c:pt idx="5">
                <c:v>308.3412645832591</c:v>
              </c:pt>
              <c:pt idx="6">
                <c:v>337.05798649817734</c:v>
              </c:pt>
              <c:pt idx="7">
                <c:v>482.45743135525595</c:v>
              </c:pt>
              <c:pt idx="8">
                <c:v>464.65943896984254</c:v>
              </c:pt>
              <c:pt idx="9">
                <c:v>457.3446726533034</c:v>
              </c:pt>
              <c:pt idx="10">
                <c:v>528.3666461066302</c:v>
              </c:pt>
              <c:pt idx="11">
                <c:v>577.6591573705091</c:v>
              </c:pt>
              <c:pt idx="12">
                <c:v>533.0835312508834</c:v>
              </c:pt>
              <c:pt idx="13">
                <c:v>420.60020654480104</c:v>
              </c:pt>
              <c:pt idx="14">
                <c:v>518.0267753681619</c:v>
              </c:pt>
              <c:pt idx="15">
                <c:v>670.087143785327</c:v>
              </c:pt>
              <c:pt idx="16">
                <c:v>777.4096122062178</c:v>
              </c:pt>
            </c:numLit>
          </c:val>
          <c:smooth val="0"/>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tickLblSkip val="4"/>
        <c:spPr>
          <a:ln xmlns:a="http://schemas.openxmlformats.org/drawingml/2006/main" w="9525">
            <a:solidFill>
              <a:srgbClr val="CBD7DE"/>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crossAx val="48672768"/>
      </c:catAx>
      <c:valAx>
        <c:axId val="48672768"/>
        <c:scaling>
          <c:orientation val="minMax"/>
          <c:max val="800"/>
          <c:min val="-200"/>
        </c:scaling>
        <c:delete val="0"/>
        <c:axPos val="l"/>
        <c:majorGridlines>
          <c:spPr>
            <a:ln xmlns:a="http://schemas.openxmlformats.org/drawingml/2006/main" w="9525">
              <a:solidFill>
                <a:srgbClr val="CBD7DE"/>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11111"/>
                    </a:solidFill>
                    <a:latin typeface="Inter"/>
                    <a:ea typeface="Inter"/>
                    <a:cs typeface="Inter"/>
                  </a:rPr>
                  <a:t>Effect on 2025 monthly PITI</a:t>
                </a:r>
              </a:p>
            </c:rich>
          </c:tx>
          <c:overlay val="0"/>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title>
        <c:numFmt formatCode="$#,##0;-$#,##0"/>
        <c:majorTickMark val="none"/>
        <c:minorTickMark val="none"/>
        <c:spPr>
          <a:ln xmlns:a="http://schemas.openxmlformats.org/drawingml/2006/main" w="9525">
            <a:solidFill>
              <a:srgbClr val="CBD7DE"/>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crossAx val="48650112"/>
        <c:crossBetween val="between"/>
        <c:majorUnit val="200"/>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varyColors val="0"/>
        <c:ser>
          <c:idx val="0"/>
          <c:order val="0"/>
          <c:tx>
            <c:v>Income, age 25–34</c:v>
          </c:tx>
          <c:spPr>
            <a:ln xmlns:a="http://schemas.openxmlformats.org/drawingml/2006/main" w="28575">
              <a:solidFill>
                <a:srgbClr val="1F5A73"/>
              </a:solidFill>
              <a:prstDash val="solid"/>
            </a:ln>
          </c:spPr>
          <c:marker>
            <c:symbol val="circle"/>
            <c:size val="5"/>
            <c:spPr>
              <a:solidFill xmlns:a="http://schemas.openxmlformats.org/drawingml/2006/main">
                <a:srgbClr val="1F5A73"/>
              </a:solidFill>
            </c:spPr>
          </c:marker>
          <c:cat>
            <c:numLit>
              <c:formatCode>General</c:formatCode>
              <c:ptCount val="41"/>
              <c:pt idx="0">
                <c:v>1984</c:v>
              </c:pt>
              <c:pt idx="1">
                <c:v>1985</c:v>
              </c:pt>
              <c:pt idx="2">
                <c:v>1986</c:v>
              </c:pt>
              <c:pt idx="3">
                <c:v>1987</c:v>
              </c:pt>
              <c:pt idx="4">
                <c:v>1988</c:v>
              </c:pt>
              <c:pt idx="5">
                <c:v>1989</c:v>
              </c:pt>
              <c:pt idx="6">
                <c:v>1990</c:v>
              </c:pt>
              <c:pt idx="7">
                <c:v>1991</c:v>
              </c:pt>
              <c:pt idx="8">
                <c:v>1992</c:v>
              </c:pt>
              <c:pt idx="9">
                <c:v>1993</c:v>
              </c:pt>
              <c:pt idx="10">
                <c:v>1994</c:v>
              </c:pt>
              <c:pt idx="11">
                <c:v>1995</c:v>
              </c:pt>
              <c:pt idx="12">
                <c:v>1996</c:v>
              </c:pt>
              <c:pt idx="13">
                <c:v>1997</c:v>
              </c:pt>
              <c:pt idx="14">
                <c:v>1998</c:v>
              </c:pt>
              <c:pt idx="15">
                <c:v>1999</c:v>
              </c:pt>
              <c:pt idx="16">
                <c:v>2000</c:v>
              </c:pt>
              <c:pt idx="17">
                <c:v>2001</c:v>
              </c:pt>
              <c:pt idx="18">
                <c:v>2002</c:v>
              </c:pt>
              <c:pt idx="19">
                <c:v>2003</c:v>
              </c:pt>
              <c:pt idx="20">
                <c:v>2004</c:v>
              </c:pt>
              <c:pt idx="21">
                <c:v>2005</c:v>
              </c:pt>
              <c:pt idx="22">
                <c:v>2006</c:v>
              </c:pt>
              <c:pt idx="23">
                <c:v>2007</c:v>
              </c:pt>
              <c:pt idx="24">
                <c:v>2008</c:v>
              </c:pt>
              <c:pt idx="25">
                <c:v>2009</c:v>
              </c:pt>
              <c:pt idx="26">
                <c:v>2010</c:v>
              </c:pt>
              <c:pt idx="27">
                <c:v>2011</c:v>
              </c:pt>
              <c:pt idx="28">
                <c:v>2012</c:v>
              </c:pt>
              <c:pt idx="29">
                <c:v>2013</c:v>
              </c:pt>
              <c:pt idx="30">
                <c:v>2014</c:v>
              </c:pt>
              <c:pt idx="31">
                <c:v>2015</c:v>
              </c:pt>
              <c:pt idx="32">
                <c:v>2016</c:v>
              </c:pt>
              <c:pt idx="33">
                <c:v>2017</c:v>
              </c:pt>
              <c:pt idx="34">
                <c:v>2018</c:v>
              </c:pt>
              <c:pt idx="35">
                <c:v>2019</c:v>
              </c:pt>
              <c:pt idx="36">
                <c:v>2020</c:v>
              </c:pt>
              <c:pt idx="37">
                <c:v>2021</c:v>
              </c:pt>
              <c:pt idx="38">
                <c:v>2022</c:v>
              </c:pt>
              <c:pt idx="39">
                <c:v>2023</c:v>
              </c:pt>
              <c:pt idx="40">
                <c:v>2024</c:v>
              </c:pt>
            </c:numLit>
          </c:cat>
          <c:val>
            <c:numLit>
              <c:formatCode>$#,##0</c:formatCode>
              <c:ptCount val="41"/>
              <c:pt idx="0">
                <c:v>23740</c:v>
              </c:pt>
              <c:pt idx="1">
                <c:v>25090</c:v>
              </c:pt>
              <c:pt idx="2">
                <c:v>25900</c:v>
              </c:pt>
              <c:pt idx="3">
                <c:v>26970</c:v>
              </c:pt>
              <c:pt idx="4">
                <c:v>28410</c:v>
              </c:pt>
              <c:pt idx="5">
                <c:v>29820</c:v>
              </c:pt>
              <c:pt idx="6">
                <c:v>30360</c:v>
              </c:pt>
              <c:pt idx="7">
                <c:v>30840</c:v>
              </c:pt>
              <c:pt idx="8">
                <c:v>31240</c:v>
              </c:pt>
              <c:pt idx="9">
                <c:v>31280</c:v>
              </c:pt>
              <c:pt idx="10">
                <c:v>33150</c:v>
              </c:pt>
              <c:pt idx="11">
                <c:v>34700</c:v>
              </c:pt>
              <c:pt idx="12">
                <c:v>35890</c:v>
              </c:pt>
              <c:pt idx="13">
                <c:v>38170</c:v>
              </c:pt>
              <c:pt idx="14">
                <c:v>40070</c:v>
              </c:pt>
              <c:pt idx="15">
                <c:v>42090</c:v>
              </c:pt>
              <c:pt idx="16">
                <c:v>44410</c:v>
              </c:pt>
              <c:pt idx="17">
                <c:v>45080</c:v>
              </c:pt>
              <c:pt idx="18">
                <c:v>45330</c:v>
              </c:pt>
              <c:pt idx="19">
                <c:v>44780</c:v>
              </c:pt>
              <c:pt idx="20">
                <c:v>45470</c:v>
              </c:pt>
              <c:pt idx="21">
                <c:v>47380</c:v>
              </c:pt>
              <c:pt idx="22">
                <c:v>49160</c:v>
              </c:pt>
              <c:pt idx="23">
                <c:v>51020</c:v>
              </c:pt>
              <c:pt idx="24">
                <c:v>51400</c:v>
              </c:pt>
              <c:pt idx="25">
                <c:v>50200</c:v>
              </c:pt>
              <c:pt idx="26">
                <c:v>49880</c:v>
              </c:pt>
              <c:pt idx="27">
                <c:v>50770</c:v>
              </c:pt>
              <c:pt idx="28">
                <c:v>51380</c:v>
              </c:pt>
              <c:pt idx="29">
                <c:v>52420</c:v>
              </c:pt>
              <c:pt idx="30">
                <c:v>54240</c:v>
              </c:pt>
              <c:pt idx="31">
                <c:v>57370</c:v>
              </c:pt>
              <c:pt idx="32">
                <c:v>60930</c:v>
              </c:pt>
              <c:pt idx="33">
                <c:v>61240</c:v>
              </c:pt>
              <c:pt idx="34">
                <c:v>65890</c:v>
              </c:pt>
              <c:pt idx="35">
                <c:v>70280</c:v>
              </c:pt>
              <c:pt idx="36">
                <c:v>71610</c:v>
              </c:pt>
              <c:pt idx="37">
                <c:v>74860</c:v>
              </c:pt>
              <c:pt idx="38">
                <c:v>80240</c:v>
              </c:pt>
              <c:pt idx="39">
                <c:v>85780</c:v>
              </c:pt>
              <c:pt idx="40">
                <c:v>90100</c:v>
              </c:pt>
            </c:numLit>
          </c:val>
          <c:smooth val="0"/>
        </c:ser>
        <c:ser>
          <c:idx val="1"/>
          <c:order val="1"/>
          <c:tx>
            <c:v>Income required</c:v>
          </c:tx>
          <c:spPr>
            <a:ln xmlns:a="http://schemas.openxmlformats.org/drawingml/2006/main" w="28575">
              <a:solidFill>
                <a:srgbClr val="D55E00"/>
              </a:solidFill>
              <a:prstDash val="solid"/>
            </a:ln>
          </c:spPr>
          <c:marker>
            <c:symbol val="diamond"/>
            <c:size val="5"/>
            <c:spPr>
              <a:solidFill xmlns:a="http://schemas.openxmlformats.org/drawingml/2006/main">
                <a:srgbClr val="D55E00"/>
              </a:solidFill>
            </c:spPr>
          </c:marker>
          <c:cat>
            <c:numLit>
              <c:formatCode>General</c:formatCode>
              <c:ptCount val="41"/>
              <c:pt idx="0">
                <c:v>1984</c:v>
              </c:pt>
              <c:pt idx="1">
                <c:v>1985</c:v>
              </c:pt>
              <c:pt idx="2">
                <c:v>1986</c:v>
              </c:pt>
              <c:pt idx="3">
                <c:v>1987</c:v>
              </c:pt>
              <c:pt idx="4">
                <c:v>1988</c:v>
              </c:pt>
              <c:pt idx="5">
                <c:v>1989</c:v>
              </c:pt>
              <c:pt idx="6">
                <c:v>1990</c:v>
              </c:pt>
              <c:pt idx="7">
                <c:v>1991</c:v>
              </c:pt>
              <c:pt idx="8">
                <c:v>1992</c:v>
              </c:pt>
              <c:pt idx="9">
                <c:v>1993</c:v>
              </c:pt>
              <c:pt idx="10">
                <c:v>1994</c:v>
              </c:pt>
              <c:pt idx="11">
                <c:v>1995</c:v>
              </c:pt>
              <c:pt idx="12">
                <c:v>1996</c:v>
              </c:pt>
              <c:pt idx="13">
                <c:v>1997</c:v>
              </c:pt>
              <c:pt idx="14">
                <c:v>1998</c:v>
              </c:pt>
              <c:pt idx="15">
                <c:v>1999</c:v>
              </c:pt>
              <c:pt idx="16">
                <c:v>2000</c:v>
              </c:pt>
              <c:pt idx="17">
                <c:v>2001</c:v>
              </c:pt>
              <c:pt idx="18">
                <c:v>2002</c:v>
              </c:pt>
              <c:pt idx="19">
                <c:v>2003</c:v>
              </c:pt>
              <c:pt idx="20">
                <c:v>2004</c:v>
              </c:pt>
              <c:pt idx="21">
                <c:v>2005</c:v>
              </c:pt>
              <c:pt idx="22">
                <c:v>2006</c:v>
              </c:pt>
              <c:pt idx="23">
                <c:v>2007</c:v>
              </c:pt>
              <c:pt idx="24">
                <c:v>2008</c:v>
              </c:pt>
              <c:pt idx="25">
                <c:v>2009</c:v>
              </c:pt>
              <c:pt idx="26">
                <c:v>2010</c:v>
              </c:pt>
              <c:pt idx="27">
                <c:v>2011</c:v>
              </c:pt>
              <c:pt idx="28">
                <c:v>2012</c:v>
              </c:pt>
              <c:pt idx="29">
                <c:v>2013</c:v>
              </c:pt>
              <c:pt idx="30">
                <c:v>2014</c:v>
              </c:pt>
              <c:pt idx="31">
                <c:v>2015</c:v>
              </c:pt>
              <c:pt idx="32">
                <c:v>2016</c:v>
              </c:pt>
              <c:pt idx="33">
                <c:v>2017</c:v>
              </c:pt>
              <c:pt idx="34">
                <c:v>2018</c:v>
              </c:pt>
              <c:pt idx="35">
                <c:v>2019</c:v>
              </c:pt>
              <c:pt idx="36">
                <c:v>2020</c:v>
              </c:pt>
              <c:pt idx="37">
                <c:v>2021</c:v>
              </c:pt>
              <c:pt idx="38">
                <c:v>2022</c:v>
              </c:pt>
              <c:pt idx="39">
                <c:v>2023</c:v>
              </c:pt>
              <c:pt idx="40">
                <c:v>2024</c:v>
              </c:pt>
            </c:numLit>
          </c:cat>
          <c:val>
            <c:numLit>
              <c:formatCode>$#,##0</c:formatCode>
              <c:ptCount val="41"/>
              <c:pt idx="0">
                <c:v>37192.704930350075</c:v>
              </c:pt>
              <c:pt idx="1">
                <c:v>35932.86038184384</c:v>
              </c:pt>
              <c:pt idx="2">
                <c:v>33855.71599633434</c:v>
              </c:pt>
              <c:pt idx="3">
                <c:v>38562.99667816205</c:v>
              </c:pt>
              <c:pt idx="4">
                <c:v>41734.697948076275</c:v>
              </c:pt>
              <c:pt idx="5">
                <c:v>44750.06760130311</c:v>
              </c:pt>
              <c:pt idx="6">
                <c:v>44841.404200208395</c:v>
              </c:pt>
              <c:pt idx="7">
                <c:v>41331.89680696155</c:v>
              </c:pt>
              <c:pt idx="8">
                <c:v>39286.45018080914</c:v>
              </c:pt>
              <c:pt idx="9">
                <c:v>37718.83380049218</c:v>
              </c:pt>
              <c:pt idx="10">
                <c:v>42076.185901763136</c:v>
              </c:pt>
              <c:pt idx="11">
                <c:v>41771.00106246379</c:v>
              </c:pt>
              <c:pt idx="12">
                <c:v>43395.39947583634</c:v>
              </c:pt>
              <c:pt idx="13">
                <c:v>44150.1233231219</c:v>
              </c:pt>
              <c:pt idx="14">
                <c:v>43962.28785118637</c:v>
              </c:pt>
              <c:pt idx="15">
                <c:v>48126.25902502052</c:v>
              </c:pt>
              <c:pt idx="16">
                <c:v>52870.55241093885</c:v>
              </c:pt>
              <c:pt idx="17">
                <c:v>50188.14717967703</c:v>
              </c:pt>
              <c:pt idx="18">
                <c:v>52093.95707637831</c:v>
              </c:pt>
              <c:pt idx="19">
                <c:v>50740.08457166003</c:v>
              </c:pt>
              <c:pt idx="20">
                <c:v>57703.69446733623</c:v>
              </c:pt>
              <c:pt idx="21">
                <c:v>62707.30847922521</c:v>
              </c:pt>
              <c:pt idx="22">
                <c:v>67568.09142197463</c:v>
              </c:pt>
              <c:pt idx="23">
                <c:v>67514.1661353366</c:v>
              </c:pt>
              <c:pt idx="24">
                <c:v>61716.16039520834</c:v>
              </c:pt>
              <c:pt idx="25">
                <c:v>53356.354383577425</c:v>
              </c:pt>
              <c:pt idx="26">
                <c:v>53475.76507904631</c:v>
              </c:pt>
              <c:pt idx="27">
                <c:v>52923.93659295795</c:v>
              </c:pt>
              <c:pt idx="28">
                <c:v>53635.45302560819</c:v>
              </c:pt>
              <c:pt idx="29">
                <c:v>60121.06147236607</c:v>
              </c:pt>
              <c:pt idx="30">
                <c:v>65619.61101349918</c:v>
              </c:pt>
              <c:pt idx="31">
                <c:v>65658.59564322622</c:v>
              </c:pt>
              <c:pt idx="32">
                <c:v>66913.60296653786</c:v>
              </c:pt>
              <c:pt idx="33">
                <c:v>72870.43556509439</c:v>
              </c:pt>
              <c:pt idx="34">
                <c:v>77095.68234456371</c:v>
              </c:pt>
              <c:pt idx="35">
                <c:v>72017.32320959069</c:v>
              </c:pt>
              <c:pt idx="36">
                <c:v>68635.93496634392</c:v>
              </c:pt>
              <c:pt idx="37">
                <c:v>78986.94840211487</c:v>
              </c:pt>
              <c:pt idx="38">
                <c:v>109742.4777397584</c:v>
              </c:pt>
              <c:pt idx="39">
                <c:v>121948.44137415856</c:v>
              </c:pt>
              <c:pt idx="40">
                <c:v>119104.81900820194</c:v>
              </c:pt>
            </c:numLit>
          </c:val>
          <c:smooth val="0"/>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Skip val="10"/>
        <c:spPr>
          <a:ln xmlns:a="http://schemas.openxmlformats.org/drawingml/2006/main" w="9525">
            <a:solidFill>
              <a:srgbClr val="CBD7DE"/>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crossAx val="48672768"/>
      </c:catAx>
      <c:valAx>
        <c:axId val="48672768"/>
        <c:scaling>
          <c:orientation val="minMax"/>
        </c:scaling>
        <c:delete val="0"/>
        <c:axPos val="l"/>
        <c:majorGridlines>
          <c:spPr>
            <a:ln xmlns:a="http://schemas.openxmlformats.org/drawingml/2006/main" w="9525">
              <a:solidFill>
                <a:srgbClr val="CBD7DE"/>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11111"/>
                    </a:solidFill>
                    <a:latin typeface="Inter"/>
                    <a:ea typeface="Inter"/>
                    <a:cs typeface="Inter"/>
                  </a:rPr>
                  <a:t>Nominal annual income</a:t>
                </a:r>
              </a:p>
            </c:rich>
          </c:tx>
          <c:overlay val="0"/>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title>
        <c:numFmt formatCode="$#,##0"/>
        <c:majorTickMark val="none"/>
        <c:minorTickMark val="none"/>
        <c:spPr>
          <a:ln xmlns:a="http://schemas.openxmlformats.org/drawingml/2006/main" w="9525">
            <a:solidFill>
              <a:srgbClr val="CBD7DE"/>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crossAx val="48650112"/>
        <c:crossBetween val="between"/>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111111"/>
              </a:solidFill>
              <a:latin typeface="Inter"/>
              <a:ea typeface="Inter"/>
              <a:cs typeface="Inter"/>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4324DD7-B2A7-C70F-0160-11F227D46A09}"/>
              </a:ext>
            </a:extLst>
          </p:cNvPr>
          <p:cNvSpPr>
            <a:spLocks xmlns:a="http://schemas.openxmlformats.org/drawingml/2006/main" noGrp="1"/>
          </p:cNvSpPr>
          <p:nvPr>
            <p:ph type="ctrTitle" idx="0"/>
          </p:nvPr>
        </p:nvSpPr>
        <p:spPr>
          <a:xfrm xmlns:a="http://schemas.openxmlformats.org/drawingml/2006/main">
            <a:off x="626339" y="449662"/>
            <a:ext cx="6730425" cy="2401447"/>
          </a:xfrm>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1F5A73"/>
                </a:solidFill>
                <a:latin typeface="Inter"/>
                <a:ea typeface="Inter"/>
                <a:cs typeface="Inter"/>
              </a:defRPr>
            </a:pPr>
            <a:r>
              <a:rPr sz="3900" b="1">
                <a:solidFill>
                  <a:srgbClr val="1F5A73"/>
                </a:solidFill>
                <a:latin typeface="Inter"/>
                <a:ea typeface="Inter"/>
                <a:cs typeface="Inter"/>
              </a:rPr>
              <a:t>Priced Out</a:t>
            </a:r>
          </a:p>
          <a:p xmlns:a="http://schemas.openxmlformats.org/drawingml/2006/main">
            <a:pPr algn="l">
              <a:defRPr sz="3900" b="1">
                <a:solidFill>
                  <a:srgbClr val="1F5A73"/>
                </a:solidFill>
                <a:latin typeface="Inter"/>
                <a:ea typeface="Inter"/>
                <a:cs typeface="Inter"/>
              </a:defRPr>
            </a:pPr>
            <a:r>
              <a:rPr sz="3900" b="1">
                <a:solidFill>
                  <a:srgbClr val="1F5A73"/>
                </a:solidFill>
                <a:latin typeface="Inter"/>
                <a:ea typeface="Inter"/>
                <a:cs typeface="Inter"/>
              </a:rPr>
              <a:t>Why home buying got harder</a:t>
            </a:r>
          </a:p>
          <a:p xmlns:a="http://schemas.openxmlformats.org/drawingml/2006/main">
            <a:pPr algn="l">
              <a:defRPr sz="3900" b="1">
                <a:solidFill>
                  <a:srgbClr val="1F5A73"/>
                </a:solidFill>
                <a:latin typeface="Inter"/>
                <a:ea typeface="Inter"/>
                <a:cs typeface="Inter"/>
              </a:defRPr>
            </a:pPr>
            <a:r>
              <a:rPr sz="3900" b="1">
                <a:solidFill>
                  <a:srgbClr val="1F5A73"/>
                </a:solidFill>
                <a:latin typeface="Inter"/>
                <a:ea typeface="Inter"/>
                <a:cs typeface="Inter"/>
              </a:rPr>
              <a:t>for young Americans</a:t>
            </a:r>
          </a:p>
        </p:txBody>
      </p:sp>
      <p:sp>
        <p:nvSpPr>
          <p:cNvPr id="5" name="Subtitle 4">
            <a:extLst xmlns:a="http://schemas.openxmlformats.org/drawingml/2006/main">
              <a:ext uri="{FF2B5EF4-FFF2-40B4-BE49-F238E27FC236}">
                <a16:creationId xmlns:a16="http://schemas.microsoft.com/office/drawing/2014/main" id="{43501A55-18E1-9822-7454-1E3D85380DC1}"/>
              </a:ext>
            </a:extLst>
          </p:cNvPr>
          <p:cNvSpPr>
            <a:spLocks xmlns:a="http://schemas.openxmlformats.org/drawingml/2006/main" noGrp="1"/>
          </p:cNvSpPr>
          <p:nvPr>
            <p:ph type="subTitle" idx="1"/>
          </p:nvPr>
        </p:nvSpPr>
        <p:spPr>
          <a:xfrm xmlns:a="http://schemas.openxmlformats.org/drawingml/2006/main">
            <a:off x="642669" y="3564938"/>
            <a:ext cx="3758374" cy="614676"/>
          </a:xfrm>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11111"/>
                </a:solidFill>
                <a:latin typeface="Inter"/>
                <a:ea typeface="Inter"/>
                <a:cs typeface="Inter"/>
              </a:defRPr>
            </a:pPr>
            <a:r>
              <a:rPr sz="1650" b="0">
                <a:solidFill>
                  <a:srgbClr val="111111"/>
                </a:solidFill>
                <a:latin typeface="Inter"/>
                <a:ea typeface="Inter"/>
                <a:cs typeface="Inter"/>
              </a:rPr>
              <a:t>Natalie Zachariah + Haydn Stucker</a:t>
            </a:r>
          </a:p>
          <a:p xmlns:a="http://schemas.openxmlformats.org/drawingml/2006/main">
            <a:pPr algn="l">
              <a:defRPr sz="1650" b="0">
                <a:solidFill>
                  <a:srgbClr val="111111"/>
                </a:solidFill>
                <a:latin typeface="Inter"/>
                <a:ea typeface="Inter"/>
                <a:cs typeface="Inter"/>
              </a:defRPr>
            </a:pPr>
            <a:r>
              <a:rPr sz="1650" b="0">
                <a:solidFill>
                  <a:srgbClr val="111111"/>
                </a:solidFill>
                <a:latin typeface="Inter"/>
                <a:ea typeface="Inter"/>
                <a:cs typeface="Inter"/>
              </a:rPr>
              <a:t>AIPI-510 · September 22, 2026</a:t>
            </a:r>
          </a:p>
        </p:txBody>
      </p:sp>
      <p:pic>
        <p:nvPicPr>
          <p:cNvPr id="9" name="Picture 2"/>
          <p:cNvPicPr>
            <a:picLocks xmlns:a="http://schemas.openxmlformats.org/drawingml/2006/main" noChangeAspect="1"/>
          </p:cNvPicPr>
          <p:nvPr/>
        </p:nvPicPr>
        <p:blipFill>
          <a:blip xmlns:r="http://schemas.openxmlformats.org/officeDocument/2006/relationships" xmlns:a="http://schemas.openxmlformats.org/drawingml/2006/main" r:embed="Rfaac4de3b2264c67"/>
          <a:srcRect xmlns:a="http://schemas.openxmlformats.org/drawingml/2006/main" l="0" t="25645" r="0" b="61469"/>
          <a:stretch xmlns:a="http://schemas.openxmlformats.org/drawingml/2006/main">
            <a:fillRect l="0" t="0" r="0" b="0"/>
          </a:stretch>
        </p:blipFill>
        <p:spPr>
          <a:xfrm xmlns:a="http://schemas.openxmlformats.org/drawingml/2006/main">
            <a:off x="0" y="4763386"/>
            <a:ext cx="12190542" cy="2094614"/>
          </a:xfrm>
          <a:prstGeom xmlns:a="http://schemas.openxmlformats.org/drawingml/2006/main" prst="rect">
            <a:avLst/>
          </a:prstGeom>
        </p:spPr>
      </p:pic>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69FA6D2-2D50-9DC8-E5DD-C4C1EAE88D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E7B2D062-27A4-4C85-912F-42FC88B4DB91}"/>
              </a:ext>
            </a:extLst>
          </p:cNvPr>
          <p:cNvSpPr>
            <a:spLocks xmlns:a="http://schemas.openxmlformats.org/drawingml/2006/main" noGrp="1"/>
          </p:cNvSpPr>
          <p:nvPr>
            <p:ph type="title" idx="0"/>
          </p:nvPr>
        </p:nvSpPr>
        <p:spPr>
          <a:xfrm xmlns:a="http://schemas.openxmlformats.org/drawingml/2006/main">
            <a:off x="393700" y="344008"/>
            <a:ext cx="9448800" cy="3669192"/>
          </a:xfrm>
          <a:prstGeom xmlns:a="http://schemas.openxmlformats.org/drawingml/2006/main" prst="rect">
            <a:avLst/>
          </a:prstGeom>
        </p:spPr>
        <p:txBody>
          <a:bodyPr xmlns:a="http://schemas.openxmlformats.org/drawingml/2006/main" spcFirstLastPara="1" vert="horz" wrap="square" lIns="0" tIns="0" rIns="0" bIns="0" anchor="ctr">
            <a:normAutofit fontScale="100000"/>
          </a:bodyPr>
          <a:lstStyle xmlns:a="http://schemas.openxmlformats.org/drawingml/2006/main"/>
          <a:p xmlns:a="http://schemas.openxmlformats.org/drawingml/2006/main">
            <a:pPr algn="l">
              <a:defRPr sz="3150" b="0">
                <a:solidFill>
                  <a:srgbClr val="111111"/>
                </a:solidFill>
                <a:latin typeface="Inter"/>
                <a:ea typeface="Inter"/>
                <a:cs typeface="Inter"/>
              </a:defRPr>
            </a:pPr>
            <a:r>
              <a:rPr sz="3150" b="0">
                <a:solidFill>
                  <a:srgbClr val="111111"/>
                </a:solidFill>
                <a:latin typeface="Inter"/>
                <a:ea typeface="Inter"/>
                <a:cs typeface="Inter"/>
              </a:rPr>
              <a:t>For renters aged 25–40, the practical question is whether income can clear the payment test and still leave a path to the down payment</a:t>
            </a:r>
            <a:endParaRPr sz="4800"/>
          </a:p>
        </p:txBody>
      </p:sp>
      <p:sp>
        <p:nvSpPr>
          <p:cNvPr id="4" name="Content Placeholder 15">
            <a:extLst xmlns:a="http://schemas.openxmlformats.org/drawingml/2006/main">
              <a:ext uri="{FF2B5EF4-FFF2-40B4-BE49-F238E27FC236}">
                <a16:creationId xmlns:a16="http://schemas.microsoft.com/office/drawing/2014/main" id="{45D116A3-5F26-E766-2FA6-F7F59839F29D}"/>
              </a:ext>
            </a:extLst>
          </p:cNvPr>
          <p:cNvSpPr>
            <a:spLocks xmlns:a="http://schemas.openxmlformats.org/drawingml/2006/main" noGrp="1"/>
          </p:cNvSpPr>
          <p:nvPr/>
        </p:nvSpPr>
        <p:spPr>
          <a:xfrm xmlns:a="http://schemas.openxmlformats.org/drawingml/2006/main">
            <a:off x="4305300" y="4826000"/>
            <a:ext cx="3568700" cy="1168400"/>
          </a:xfrm>
          <a:prstGeom xmlns:a="http://schemas.openxmlformats.org/drawingml/2006/main" prst="rect">
            <a:avLst/>
          </a:prstGeom>
        </p:spPr>
        <p:txBody>
          <a:bodyPr xmlns:a="http://schemas.openxmlformats.org/drawingml/2006/main" lIns="0" tIns="0" rIns="0" bIns="0" anchor="ctr">
            <a:normAutofit fontScale="90509"/>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2025" b="1">
                <a:solidFill>
                  <a:srgbClr val="1F5A73"/>
                </a:solidFill>
                <a:latin typeface="Inter"/>
                <a:ea typeface="Inter"/>
                <a:cs typeface="Inter"/>
              </a:rPr>
              <a:t>37.1% homeownership under 35</a:t>
            </a:r>
          </a:p>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1800" b="0">
                <a:solidFill>
                  <a:srgbClr val="111111"/>
                </a:solidFill>
                <a:latin typeface="Inter"/>
                <a:ea typeface="Inter"/>
                <a:cs typeface="Inter"/>
              </a:rPr>
              <a:t>The 2025 rate remained below the 37.4% level in 1994</a:t>
            </a:r>
          </a:p>
        </p:txBody>
      </p:sp>
      <p:sp>
        <p:nvSpPr>
          <p:cNvPr id="7" name="Text Placeholder 16">
            <a:extLst xmlns:a="http://schemas.openxmlformats.org/drawingml/2006/main">
              <a:ext uri="{FF2B5EF4-FFF2-40B4-BE49-F238E27FC236}">
                <a16:creationId xmlns:a16="http://schemas.microsoft.com/office/drawing/2014/main" id="{D7F79475-D2E6-1673-5BE0-6CAB7E3D8E0C}"/>
              </a:ext>
            </a:extLst>
          </p:cNvPr>
          <p:cNvSpPr>
            <a:spLocks xmlns:a="http://schemas.openxmlformats.org/drawingml/2006/main" noGrp="1"/>
          </p:cNvSpPr>
          <p:nvPr/>
        </p:nvSpPr>
        <p:spPr>
          <a:xfrm xmlns:a="http://schemas.openxmlformats.org/drawingml/2006/main">
            <a:off x="8229600" y="4826000"/>
            <a:ext cx="3568700" cy="1168400"/>
          </a:xfrm>
          <a:prstGeom xmlns:a="http://schemas.openxmlformats.org/drawingml/2006/main" prst="rect">
            <a:avLst/>
          </a:prstGeom>
        </p:spPr>
        <p:txBody>
          <a:bodyPr xmlns:a="http://schemas.openxmlformats.org/drawingml/2006/main" lIns="0" tIns="0" rIns="0" bIns="0" anchor="ctr">
            <a:normAutofit fontScale="9654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2025" b="1">
                <a:solidFill>
                  <a:srgbClr val="1F5A73"/>
                </a:solidFill>
                <a:latin typeface="Inter"/>
                <a:ea typeface="Inter"/>
                <a:cs typeface="Inter"/>
              </a:rPr>
              <a:t>Two separate barriers</a:t>
            </a:r>
          </a:p>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1800" b="0">
                <a:solidFill>
                  <a:srgbClr val="111111"/>
                </a:solidFill>
                <a:latin typeface="Inter"/>
                <a:ea typeface="Inter"/>
                <a:cs typeface="Inter"/>
              </a:rPr>
              <a:t>Monthly qualification and upfront saving measure different constraints</a:t>
            </a:r>
          </a:p>
        </p:txBody>
      </p:sp>
      <p:sp>
        <p:nvSpPr>
          <p:cNvPr id="8" name="Google Shape;340;p61">
            <a:extLst xmlns:a="http://schemas.openxmlformats.org/drawingml/2006/main">
              <a:ext uri="{FF2B5EF4-FFF2-40B4-BE49-F238E27FC236}">
                <a16:creationId xmlns:a16="http://schemas.microsoft.com/office/drawing/2014/main" id="{E99A300F-A62D-2D4C-A8CC-7A2B40C7F19C}"/>
              </a:ext>
            </a:extLst>
          </p:cNvPr>
          <p:cNvSpPr>
            <a:spLocks xmlns:a="http://schemas.openxmlformats.org/drawingml/2006/main" noGrp="1"/>
          </p:cNvSpPr>
          <p:nvPr/>
        </p:nvSpPr>
        <p:spPr>
          <a:xfrm xmlns:a="http://schemas.openxmlformats.org/drawingml/2006/main">
            <a:off x="4305300" y="4356100"/>
            <a:ext cx="257187" cy="257089"/>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5">
              <a:lumMod val="50000"/>
            </a:schemeClr>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Google Shape;340;p61">
            <a:extLst xmlns:a="http://schemas.openxmlformats.org/drawingml/2006/main">
              <a:ext uri="{FF2B5EF4-FFF2-40B4-BE49-F238E27FC236}">
                <a16:creationId xmlns:a16="http://schemas.microsoft.com/office/drawing/2014/main" id="{9715BEEB-6A24-7E57-79F9-6DC76158D290}"/>
              </a:ext>
            </a:extLst>
          </p:cNvPr>
          <p:cNvSpPr>
            <a:spLocks xmlns:a="http://schemas.openxmlformats.org/drawingml/2006/main" noGrp="1"/>
          </p:cNvSpPr>
          <p:nvPr/>
        </p:nvSpPr>
        <p:spPr>
          <a:xfrm xmlns:a="http://schemas.openxmlformats.org/drawingml/2006/main">
            <a:off x="8224158" y="4356100"/>
            <a:ext cx="257187" cy="257089"/>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5">
              <a:lumMod val="50000"/>
            </a:schemeClr>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1C1C27E6-B24A-134D-A33B-2CE33CAE571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4735209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13</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ctr">
            <a:normAutofit fontScale="100000"/>
          </a:bodyPr>
          <a:lstStyle xmlns:a="http://schemas.openxmlformats.org/drawingml/2006/main"/>
          <a:p xmlns:a="http://schemas.openxmlformats.org/drawingml/2006/main">
            <a:pPr algn="l">
              <a:defRPr sz="3000" b="0">
                <a:solidFill>
                  <a:srgbClr val="111111"/>
                </a:solidFill>
                <a:latin typeface="Inter"/>
                <a:ea typeface="Inter"/>
                <a:cs typeface="Inter"/>
              </a:defRPr>
            </a:pPr>
            <a:r>
              <a:rPr sz="3000" b="0">
                <a:solidFill>
                  <a:srgbClr val="111111"/>
                </a:solidFill>
                <a:latin typeface="Inter"/>
                <a:ea typeface="Inter"/>
                <a:cs typeface="Inter"/>
              </a:rPr>
              <a:t>Data and analytical scope</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Rates, prices, supply, inflation, income, and household debt</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725" b="1">
                <a:solidFill>
                  <a:srgbClr val="1F5A73"/>
                </a:solidFill>
                <a:latin typeface="Inter"/>
                <a:ea typeface="Inter"/>
                <a:cs typeface="Inter"/>
              </a:defRPr>
            </a:pPr>
            <a:r>
              <a:rPr sz="1725" b="1">
                <a:solidFill>
                  <a:srgbClr val="1F5A73"/>
                </a:solidFill>
                <a:latin typeface="Inter"/>
                <a:ea typeface="Inter"/>
                <a:cs typeface="Inter"/>
              </a:rPr>
              <a:t>23 national FRED series</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All Case-Shiller 20-City members, ranked over one window</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725" b="1">
                <a:solidFill>
                  <a:srgbClr val="1F5A73"/>
                </a:solidFill>
                <a:latin typeface="Inter"/>
                <a:ea typeface="Inter"/>
                <a:cs typeface="Inter"/>
              </a:defRPr>
            </a:pPr>
            <a:r>
              <a:rPr sz="1725" b="1">
                <a:solidFill>
                  <a:srgbClr val="1F5A73"/>
                </a:solidFill>
                <a:latin typeface="Inter"/>
                <a:ea typeface="Inter"/>
                <a:cs typeface="Inter"/>
              </a:rPr>
              <a:t>20 metro price indices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Homeownership by age, asking rent, and income by age</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725" b="1">
                <a:solidFill>
                  <a:srgbClr val="1F5A73"/>
                </a:solidFill>
                <a:latin typeface="Inter"/>
                <a:ea typeface="Inter"/>
                <a:cs typeface="Inter"/>
              </a:defRPr>
            </a:pPr>
            <a:r>
              <a:rPr sz="1725" b="1">
                <a:solidFill>
                  <a:srgbClr val="1F5A73"/>
                </a:solidFill>
                <a:latin typeface="Inter"/>
                <a:ea typeface="Inter"/>
                <a:cs typeface="Inter"/>
              </a:rPr>
              <a:t>3 Census workbooks</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43 annual rows. Partial 2026 data never set endpoint claims</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725" b="1">
                <a:solidFill>
                  <a:srgbClr val="1F5A73"/>
                </a:solidFill>
                <a:latin typeface="Inter"/>
                <a:ea typeface="Inter"/>
                <a:cs typeface="Inter"/>
              </a:defRPr>
            </a:pPr>
            <a:r>
              <a:rPr sz="1725" b="1">
                <a:solidFill>
                  <a:srgbClr val="1F5A73"/>
                </a:solidFill>
                <a:latin typeface="Inter"/>
                <a:ea typeface="Inter"/>
                <a:cs typeface="Inter"/>
              </a:rPr>
              <a:t>1984–2026 panel</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800" b="0">
                <a:solidFill>
                  <a:srgbClr val="111111"/>
                </a:solidFill>
                <a:latin typeface="Inter"/>
                <a:ea typeface="Inter"/>
                <a:cs typeface="Inter"/>
              </a:defRPr>
            </a:pPr>
            <a:r>
              <a:rPr sz="2100" b="1">
                <a:solidFill>
                  <a:srgbClr val="1F5A73"/>
                </a:solidFill>
                <a:latin typeface="Inter"/>
                <a:ea typeface="Inter"/>
                <a:cs typeface="Inter"/>
              </a:rPr>
              <a:t>Reproducible pipeline</a:t>
            </a:r>
          </a:p>
          <a:p xmlns:a="http://schemas.openxmlformats.org/drawingml/2006/main">
            <a:pPr marL="0" indent="0" algn="l">
              <a:lnSpc>
                <a:spcPct val="114000"/>
              </a:lnSpc>
              <a:spcBef>
                <a:spcPts val="0"/>
              </a:spcBef>
              <a:spcAft>
                <a:spcPts val="800"/>
              </a:spcAft>
              <a:buFont typeface="Arial"/>
              <a:buNone/>
              <a:defRPr sz="1800" b="0">
                <a:solidFill>
                  <a:srgbClr val="111111"/>
                </a:solidFill>
                <a:latin typeface="Inter"/>
                <a:ea typeface="Inter"/>
                <a:cs typeface="Inter"/>
              </a:defRPr>
            </a:pPr>
            <a:r>
              <a:rPr sz="1800" b="0">
                <a:solidFill>
                  <a:srgbClr val="111111"/>
                </a:solidFill>
                <a:latin typeface="Inter"/>
                <a:ea typeface="Inter"/>
                <a:cs typeface="Inter"/>
              </a:rPr>
              <a:t>The pipeline downloads raw files, aligns mixed frequencies on a monthly index, and aggregates complete years. The website, figures, and tests use the same processed tables.</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676116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12</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ctr">
            <a:normAutofit fontScale="100000"/>
          </a:bodyPr>
          <a:lstStyle xmlns:a="http://schemas.openxmlformats.org/drawingml/2006/main"/>
          <a:p xmlns:a="http://schemas.openxmlformats.org/drawingml/2006/main">
            <a:pPr algn="l">
              <a:defRPr sz="3000" b="0">
                <a:solidFill>
                  <a:srgbClr val="111111"/>
                </a:solidFill>
                <a:latin typeface="Inter"/>
                <a:ea typeface="Inter"/>
                <a:cs typeface="Inter"/>
              </a:defRPr>
            </a:pPr>
            <a:r>
              <a:rPr sz="3000" b="0">
                <a:solidFill>
                  <a:srgbClr val="111111"/>
                </a:solidFill>
                <a:latin typeface="Inter"/>
                <a:ea typeface="Inter"/>
                <a:cs typeface="Inter"/>
              </a:rPr>
              <a:t>The 2021–2023 payment shock</a:t>
            </a:r>
            <a:endParaRP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0000"/>
              </a:lnSpc>
              <a:spcBef>
                <a:spcPts val="0"/>
              </a:spcBef>
              <a:buFontTx/>
              <a:buNone/>
              <a:defRPr sz="1800" b="0">
                <a:solidFill>
                  <a:srgbClr val="111111"/>
                </a:solidFill>
                <a:latin typeface="Inter"/>
                <a:ea typeface="Inter"/>
                <a:cs typeface="Inter"/>
              </a:defRPr>
            </a:pPr>
            <a:r>
              <a:rPr sz="2100" b="1">
                <a:solidFill>
                  <a:srgbClr val="9C2F00"/>
                </a:solidFill>
                <a:latin typeface="Inter"/>
                <a:ea typeface="Inter"/>
                <a:cs typeface="Inter"/>
              </a:rPr>
              <a:t>Rates: 2.96% to 6.80%</a:t>
            </a:r>
          </a:p>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The 30-year mortgage rate more than doubled</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lIns="0" tIns="0" rIns="0" bIns="0" anchor="ctr">
            <a:normAutofit fontScale="9807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0000"/>
              </a:lnSpc>
              <a:spcBef>
                <a:spcPts val="0"/>
              </a:spcBef>
              <a:buFontTx/>
              <a:buNone/>
              <a:defRPr sz="1800" b="0">
                <a:solidFill>
                  <a:srgbClr val="111111"/>
                </a:solidFill>
                <a:latin typeface="Inter"/>
                <a:ea typeface="Inter"/>
                <a:cs typeface="Inter"/>
              </a:defRPr>
            </a:pPr>
            <a:r>
              <a:rPr sz="2100" b="1">
                <a:solidFill>
                  <a:srgbClr val="1F5A73"/>
                </a:solidFill>
                <a:latin typeface="Inter"/>
                <a:ea typeface="Inter"/>
                <a:cs typeface="Inter"/>
              </a:rPr>
              <a:t>Prices: +11.4%</a:t>
            </a:r>
          </a:p>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The median new-home sale price rose from 2021 to 2023</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accent5">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lIns="0" tIns="0" rIns="0" bIns="0" anchor="ctr">
            <a:normAutofit fontScale="9807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0000"/>
              </a:lnSpc>
              <a:spcBef>
                <a:spcPts val="0"/>
              </a:spcBef>
              <a:buFontTx/>
              <a:buNone/>
              <a:defRPr sz="1800" b="0">
                <a:solidFill>
                  <a:srgbClr val="111111"/>
                </a:solidFill>
                <a:latin typeface="Inter"/>
                <a:ea typeface="Inter"/>
                <a:cs typeface="Inter"/>
              </a:defRPr>
            </a:pPr>
            <a:r>
              <a:rPr sz="2100" b="1">
                <a:solidFill>
                  <a:srgbClr val="1F5A73"/>
                </a:solidFill>
                <a:latin typeface="Inter"/>
                <a:ea typeface="Inter"/>
                <a:cs typeface="Inter"/>
              </a:rPr>
              <a:t>Payment: +54.4%</a:t>
            </a:r>
          </a:p>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$209 price effect, $712 rate effect, and $81 interaction</a:t>
            </a:r>
          </a:p>
        </p:txBody>
      </p:sp>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44" name="Chart"/>
          <p:cNvGraphicFramePr/>
          <p:nvPr/>
        </p:nvGraphicFramePr>
        <p:xfrm>
          <a:off xmlns:a="http://schemas.openxmlformats.org/drawingml/2006/main" x="408718" y="1181100"/>
          <a:ext xmlns:a="http://schemas.openxmlformats.org/drawingml/2006/main" cx="5219700" cy="5143500"/>
        </p:xfrm>
        <a:graphic xmlns:a="http://schemas.openxmlformats.org/drawingml/2006/main">
          <a:graphicData uri="http://schemas.openxmlformats.org/drawingml/2006/chart">
            <c:chart xmlns:r="http://schemas.openxmlformats.org/officeDocument/2006/relationships" xmlns:c="http://schemas.openxmlformats.org/drawingml/2006/chart" r:id="R52bcc08b32f74b63"/>
          </a:graphicData>
        </a:graphic>
      </p:graphicFrame>
    </p:spTree>
    <p:extLst>
      <p:ext uri="{BB962C8B-B14F-4D97-AF65-F5344CB8AC3E}">
        <p14:creationId xmlns:p14="http://schemas.microsoft.com/office/powerpoint/2010/main" val="31459752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16</a:t>
            </a:fld>
            <a:endParaRPr sz="1100"/>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9"/>
            <a:ext cx="7835900" cy="697392"/>
          </a:xfrm>
        </p:spPr>
        <p:txBody>
          <a:bodyPr xmlns:a="http://schemas.openxmlformats.org/drawingml/2006/main" anchor="ctr">
            <a:normAutofit fontScale="100000"/>
          </a:bodyPr>
          <a:lstStyle xmlns:a="http://schemas.openxmlformats.org/drawingml/2006/main"/>
          <a:p xmlns:a="http://schemas.openxmlformats.org/drawingml/2006/main">
            <a:pPr algn="l">
              <a:defRPr sz="3000" b="0">
                <a:solidFill>
                  <a:srgbClr val="111111"/>
                </a:solidFill>
                <a:latin typeface="Inter"/>
                <a:ea typeface="Inter"/>
                <a:cs typeface="Inter"/>
              </a:defRPr>
            </a:pPr>
            <a:r>
              <a:rPr sz="3000" b="0">
                <a:solidFill>
                  <a:srgbClr val="111111"/>
                </a:solidFill>
                <a:latin typeface="Inter"/>
                <a:ea typeface="Inter"/>
                <a:cs typeface="Inter"/>
              </a:rPr>
              <a:t>Rates dominate after 2011 in real dollars</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5"/>
            <a:ext cx="2133315" cy="90375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2700" b="1">
                <a:solidFill>
                  <a:srgbClr val="1F5A73"/>
                </a:solidFill>
                <a:latin typeface="Inter"/>
                <a:ea typeface="Inter"/>
                <a:cs typeface="Inter"/>
              </a:defRPr>
            </a:pPr>
            <a:r>
              <a:rPr sz="2700" b="1" u="none" cap="none" spc="0">
                <a:ln>
                  <a:noFill/>
                </a:ln>
                <a:solidFill>
                  <a:srgbClr val="1F5A73"/>
                </a:solidFill>
                <a:latin typeface="Inter"/>
                <a:ea typeface="Inter"/>
                <a:cs typeface="Inter"/>
              </a:rPr>
              <a:t>2012</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lIns="0" tIns="0" rIns="0" bIns="0" anchor="ctr">
            <a:normAutofit fontScale="85812"/>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Real-dollar crossover</a:t>
            </a:r>
            <a:endParaRPr sz="1400">
              <a:latin typeface="Helvetica Neue"/>
              <a:ea typeface="Helvetica Neue"/>
              <a:cs typeface="Helvetica Neue"/>
            </a:endParaRPr>
          </a:p>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Rates lead from 2012</a:t>
            </a:r>
            <a:endParaRPr sz="1400">
              <a:latin typeface="Helvetica Neue"/>
              <a:ea typeface="Helvetica Neue"/>
              <a:cs typeface="Helvetica Neue"/>
            </a:endParaRP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5"/>
            <a:ext cx="2133315" cy="90375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2700" b="1">
                <a:solidFill>
                  <a:srgbClr val="9C2F00"/>
                </a:solidFill>
                <a:latin typeface="Inter"/>
                <a:ea typeface="Inter"/>
                <a:cs typeface="Inter"/>
              </a:defRPr>
            </a:pPr>
            <a:r>
              <a:rPr sz="2700" b="1" u="none" cap="none" spc="0">
                <a:ln>
                  <a:noFill/>
                </a:ln>
                <a:solidFill>
                  <a:srgbClr val="9C2F00"/>
                </a:solidFill>
                <a:latin typeface="Inter"/>
                <a:ea typeface="Inter"/>
                <a:cs typeface="Inter"/>
              </a:rPr>
              <a:t>2020</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lIns="0" tIns="0" rIns="0" bIns="0" anchor="ctr">
            <a:normAutofit fontScale="85812"/>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Nominal crossover</a:t>
            </a:r>
            <a:endParaRPr sz="1400">
              <a:latin typeface="Helvetica Neue"/>
              <a:ea typeface="Helvetica Neue"/>
              <a:cs typeface="Helvetica Neue"/>
            </a:endParaRPr>
          </a:p>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Rates lead from 2020</a:t>
            </a:r>
            <a:endParaRPr sz="1400">
              <a:latin typeface="Helvetica Neue"/>
              <a:ea typeface="Helvetica Neue"/>
              <a:cs typeface="Helvetica Neue"/>
            </a:endParaRP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lIns="0" tIns="0" rIns="0" bIns="0" anchor="ctr">
            <a:normAutofit fontScale="88048"/>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800" b="0">
                <a:solidFill>
                  <a:srgbClr val="111111"/>
                </a:solidFill>
                <a:latin typeface="Inter"/>
                <a:ea typeface="Inter"/>
                <a:cs typeface="Inter"/>
              </a:defRPr>
            </a:pPr>
            <a:r>
              <a:rPr sz="1800" b="0">
                <a:solidFill>
                  <a:srgbClr val="111111"/>
                </a:solidFill>
                <a:latin typeface="Inter"/>
                <a:ea typeface="Inter"/>
                <a:cs typeface="Inter"/>
              </a:rPr>
              <a:t>Engineered feature: the analysis runs the same counterfactual from 17 base years and converts prices to constant 2024 dollars before comparing each anchor with 2025.</a:t>
            </a:r>
          </a:p>
        </p:txBody>
      </p:sp>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5" name="Chart"/>
          <p:cNvGraphicFramePr/>
          <p:nvPr/>
        </p:nvGraphicFramePr>
        <p:xfrm>
          <a:off xmlns:a="http://schemas.openxmlformats.org/drawingml/2006/main" x="385858" y="1254728"/>
          <a:ext xmlns:a="http://schemas.openxmlformats.org/drawingml/2006/main" cx="5534216" cy="5259324"/>
        </p:xfrm>
        <a:graphic xmlns:a="http://schemas.openxmlformats.org/drawingml/2006/main">
          <a:graphicData uri="http://schemas.openxmlformats.org/drawingml/2006/chart">
            <c:chart xmlns:r="http://schemas.openxmlformats.org/officeDocument/2006/relationships" xmlns:c="http://schemas.openxmlformats.org/drawingml/2006/chart" r:id="Rb8113eefc15e49de"/>
          </a:graphicData>
        </a:graphic>
      </p:graphicFrame>
    </p:spTree>
    <p:extLst>
      <p:ext uri="{BB962C8B-B14F-4D97-AF65-F5344CB8AC3E}">
        <p14:creationId xmlns:p14="http://schemas.microsoft.com/office/powerpoint/2010/main" val="377680918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16</a:t>
            </a:fld>
            <a:endParaRPr sz="1100"/>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9"/>
            <a:ext cx="7835900" cy="697392"/>
          </a:xfrm>
        </p:spPr>
        <p:txBody>
          <a:bodyPr xmlns:a="http://schemas.openxmlformats.org/drawingml/2006/main" anchor="ctr">
            <a:normAutofit fontScale="100000"/>
          </a:bodyPr>
          <a:lstStyle xmlns:a="http://schemas.openxmlformats.org/drawingml/2006/main"/>
          <a:p xmlns:a="http://schemas.openxmlformats.org/drawingml/2006/main">
            <a:pPr algn="l">
              <a:defRPr sz="3000" b="0">
                <a:solidFill>
                  <a:srgbClr val="111111"/>
                </a:solidFill>
                <a:latin typeface="Inter"/>
                <a:ea typeface="Inter"/>
                <a:cs typeface="Inter"/>
              </a:defRPr>
            </a:pPr>
            <a:r>
              <a:rPr sz="3000" b="0">
                <a:solidFill>
                  <a:srgbClr val="111111"/>
                </a:solidFill>
                <a:latin typeface="Inter"/>
                <a:ea typeface="Inter"/>
                <a:cs typeface="Inter"/>
              </a:rPr>
              <a:t>Income rose while qualification moved faster</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5"/>
            <a:ext cx="2133315" cy="90375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2700" b="1">
                <a:solidFill>
                  <a:srgbClr val="1F5A73"/>
                </a:solidFill>
                <a:latin typeface="Inter"/>
                <a:ea typeface="Inter"/>
                <a:cs typeface="Inter"/>
              </a:defRPr>
            </a:pPr>
            <a:r>
              <a:rPr sz="2700" b="1" u="none" cap="none" spc="0">
                <a:ln>
                  <a:noFill/>
                </a:ln>
                <a:solidFill>
                  <a:srgbClr val="1F5A73"/>
                </a:solidFill>
                <a:latin typeface="Inter"/>
                <a:ea typeface="Inter"/>
                <a:cs typeface="Inter"/>
              </a:rPr>
              <a:t>70.3</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lIns="0" tIns="0" rIns="0" bIns="0" anchor="ctr">
            <a:normAutofit fontScale="8275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Affordability index</a:t>
            </a:r>
            <a:endParaRPr sz="1400">
              <a:latin typeface="Helvetica Neue"/>
              <a:ea typeface="Helvetica Neue"/>
              <a:cs typeface="Helvetica Neue"/>
            </a:endParaRPr>
          </a:p>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94.8 (2021) to 70.3 (2023)</a:t>
            </a:r>
            <a:endParaRPr sz="1400">
              <a:latin typeface="Helvetica Neue"/>
              <a:ea typeface="Helvetica Neue"/>
              <a:cs typeface="Helvetica Neue"/>
            </a:endParaRP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accent5">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5"/>
            <a:ext cx="2133315" cy="90375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2400" b="1">
                <a:solidFill>
                  <a:srgbClr val="9C2F00"/>
                </a:solidFill>
                <a:latin typeface="Inter"/>
                <a:ea typeface="Inter"/>
                <a:cs typeface="Inter"/>
              </a:defRPr>
            </a:pPr>
            <a:r>
              <a:rPr sz="2400" b="1" u="none" cap="none" spc="0">
                <a:ln>
                  <a:noFill/>
                </a:ln>
                <a:solidFill>
                  <a:srgbClr val="9C2F00"/>
                </a:solidFill>
                <a:latin typeface="Inter"/>
                <a:ea typeface="Inter"/>
                <a:cs typeface="Inter"/>
              </a:rPr>
              <a:t>9.3 years</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lIns="0" tIns="0" rIns="0" bIns="0" anchor="ctr">
            <a:normAutofit fontScale="72406"/>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20% down payment</a:t>
            </a:r>
            <a:endParaRPr sz="1400">
              <a:latin typeface="Helvetica Neue"/>
              <a:ea typeface="Helvetica Neue"/>
              <a:cs typeface="Helvetica Neue"/>
            </a:endParaRPr>
          </a:p>
          <a:p xmlns:a="http://schemas.openxmlformats.org/drawingml/2006/main">
            <a:pPr marL="0" indent="0" algn="l">
              <a:lnSpc>
                <a:spcPct val="114000"/>
              </a:lnSpc>
              <a:spcBef>
                <a:spcPts val="0"/>
              </a:spcBef>
              <a:spcAft>
                <a:spcPts val="800"/>
              </a:spcAft>
              <a:buFont typeface="Arial"/>
              <a:buNone/>
              <a:defRPr sz="1725" b="0">
                <a:solidFill>
                  <a:srgbClr val="111111"/>
                </a:solidFill>
                <a:latin typeface="Inter"/>
                <a:ea typeface="Inter"/>
                <a:cs typeface="Inter"/>
              </a:defRPr>
            </a:pPr>
            <a:r>
              <a:rPr sz="1725" b="0">
                <a:solidFill>
                  <a:srgbClr val="111111"/>
                </a:solidFill>
                <a:latin typeface="Inter"/>
                <a:ea typeface="Inter"/>
                <a:cs typeface="Inter"/>
              </a:rPr>
              <a:t>6.7 years (1984) to 9.3 (2024)</a:t>
            </a:r>
            <a:endParaRPr sz="1400">
              <a:latin typeface="Helvetica Neue"/>
              <a:ea typeface="Helvetica Neue"/>
              <a:cs typeface="Helvetica Neue"/>
            </a:endParaRP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lIns="0" tIns="0" rIns="0" bIns="0" anchor="ctr">
            <a:normAutofit fontScale="79191"/>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800" b="0">
                <a:solidFill>
                  <a:srgbClr val="111111"/>
                </a:solidFill>
                <a:latin typeface="Inter"/>
                <a:ea typeface="Inter"/>
                <a:cs typeface="Inter"/>
              </a:defRPr>
            </a:pPr>
            <a:r>
              <a:rPr sz="1800" b="0">
                <a:solidFill>
                  <a:srgbClr val="111111"/>
                </a:solidFill>
                <a:latin typeface="Inter"/>
                <a:ea typeface="Inter"/>
                <a:cs typeface="Inter"/>
              </a:rPr>
              <a:t>From 2021 to 2023, young-household income rose 14.6% while required income rose 54.4%. The model converts PITI into a 28% front-end DTI test and measures the separate 20% down-payment hurdle.</a:t>
            </a:r>
          </a:p>
        </p:txBody>
      </p:sp>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55" name="Chart"/>
          <p:cNvGraphicFramePr/>
          <p:nvPr/>
        </p:nvGraphicFramePr>
        <p:xfrm>
          <a:off xmlns:a="http://schemas.openxmlformats.org/drawingml/2006/main" x="385858" y="1254728"/>
          <a:ext xmlns:a="http://schemas.openxmlformats.org/drawingml/2006/main" cx="5534216" cy="5259324"/>
        </p:xfrm>
        <a:graphic xmlns:a="http://schemas.openxmlformats.org/drawingml/2006/main">
          <a:graphicData uri="http://schemas.openxmlformats.org/drawingml/2006/chart">
            <c:chart xmlns:r="http://schemas.openxmlformats.org/officeDocument/2006/relationships" xmlns:c="http://schemas.openxmlformats.org/drawingml/2006/chart" r:id="R7e20d09dcc124ab5"/>
          </a:graphicData>
        </a:graphic>
      </p:graphicFrame>
    </p:spTree>
    <p:extLst>
      <p:ext uri="{BB962C8B-B14F-4D97-AF65-F5344CB8AC3E}">
        <p14:creationId xmlns:p14="http://schemas.microsoft.com/office/powerpoint/2010/main" val="37768091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anchor="ctr">
            <a:normAutofit fontScale="100000"/>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1800" b="0">
                <a:solidFill>
                  <a:srgbClr val="111111"/>
                </a:solidFill>
                <a:latin typeface="Inter"/>
                <a:ea typeface="Inter"/>
                <a:cs typeface="Inter"/>
              </a:defRPr>
            </a:pPr>
            <a:r>
              <a:rPr sz="2025" b="1" i="0" u="none" cap="none" spc="0">
                <a:ln>
                  <a:noFill/>
                </a:ln>
                <a:solidFill>
                  <a:srgbClr val="1F5A73"/>
                </a:solidFill>
                <a:latin typeface="Inter"/>
                <a:ea typeface="Inter"/>
                <a:cs typeface="Inter"/>
              </a:rPr>
              <a:t>A constructed buyer</a:t>
            </a:r>
          </a:p>
          <a:p xmlns:a="http://schemas.openxmlformats.org/drawingml/2006/main">
            <a:pPr marL="0" marR="0" lvl="0" indent="0" algn="l" defTabSz="914400">
              <a:lnSpc>
                <a:spcPct val="100000"/>
              </a:lnSpc>
              <a:spcBef>
                <a:spcPts val="1300"/>
              </a:spcBef>
              <a:spcAft>
                <a:spcPts val="1300"/>
              </a:spcAft>
              <a:buClrTx/>
              <a:buSzTx/>
              <a:buFontTx/>
              <a:buNone/>
              <a:defRPr sz="1800" b="0">
                <a:solidFill>
                  <a:srgbClr val="111111"/>
                </a:solidFill>
                <a:latin typeface="Inter"/>
                <a:ea typeface="Inter"/>
                <a:cs typeface="Inter"/>
              </a:defRPr>
            </a:pPr>
            <a:r>
              <a:rPr sz="1800" b="0" i="0" u="none" cap="none" spc="0">
                <a:ln>
                  <a:noFill/>
                </a:ln>
                <a:solidFill>
                  <a:srgbClr val="111111"/>
                </a:solidFill>
                <a:latin typeface="Inter"/>
                <a:ea typeface="Inter"/>
                <a:cs typeface="Inter"/>
              </a:rPr>
              <a:t>The model assumes 20% down, a 30-year fixed loan, a national new-home median, and a 28% benchmark. It is a pressure index, not a personal forecast.</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11</a:t>
            </a:fld>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anchor="ctr">
            <a:normAutofit fontScale="100000"/>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1800" b="0">
                <a:solidFill>
                  <a:srgbClr val="111111"/>
                </a:solidFill>
                <a:latin typeface="Inter"/>
                <a:ea typeface="Inter"/>
                <a:cs typeface="Inter"/>
              </a:defRPr>
            </a:pPr>
            <a:r>
              <a:rPr sz="2025" b="1" i="0" u="none" cap="none" spc="0">
                <a:ln>
                  <a:noFill/>
                </a:ln>
                <a:solidFill>
                  <a:srgbClr val="1F5A73"/>
                </a:solidFill>
                <a:latin typeface="Inter"/>
                <a:ea typeface="Inter"/>
                <a:cs typeface="Inter"/>
              </a:rPr>
              <a:t>National medians hide place</a:t>
            </a:r>
          </a:p>
          <a:p xmlns:a="http://schemas.openxmlformats.org/drawingml/2006/main">
            <a:pPr marL="0" marR="0" lvl="0" indent="0" algn="l" defTabSz="914400">
              <a:lnSpc>
                <a:spcPct val="100000"/>
              </a:lnSpc>
              <a:spcBef>
                <a:spcPts val="1300"/>
              </a:spcBef>
              <a:spcAft>
                <a:spcPts val="1300"/>
              </a:spcAft>
              <a:buClrTx/>
              <a:buSzTx/>
              <a:buFontTx/>
              <a:buNone/>
              <a:defRPr sz="1800" b="0">
                <a:solidFill>
                  <a:srgbClr val="111111"/>
                </a:solidFill>
                <a:latin typeface="Inter"/>
                <a:ea typeface="Inter"/>
                <a:cs typeface="Inter"/>
              </a:defRPr>
            </a:pPr>
            <a:r>
              <a:rPr sz="1800" b="0" i="0" u="none" cap="none" spc="0">
                <a:ln>
                  <a:noFill/>
                </a:ln>
                <a:solidFill>
                  <a:srgbClr val="111111"/>
                </a:solidFill>
                <a:latin typeface="Inter"/>
                <a:ea typeface="Inter"/>
                <a:cs typeface="Inter"/>
              </a:rPr>
              <a:t>Housing is local. A single national price and a 20-metro index leave out many markets and cannot describe a specific buyer's options.</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anchor="ctr">
            <a:normAutofit fontScale="100000"/>
          </a:bodyPr>
          <a:lstStyle xmlns:a="http://schemas.openxmlformats.org/drawingml/2006/main"/>
          <a:p xmlns:a="http://schemas.openxmlformats.org/drawingml/2006/main">
            <a:pPr algn="l">
              <a:defRPr sz="3000" b="0">
                <a:solidFill>
                  <a:srgbClr val="111111"/>
                </a:solidFill>
                <a:latin typeface="Inter"/>
                <a:ea typeface="Inter"/>
                <a:cs typeface="Inter"/>
              </a:defRPr>
            </a:pPr>
            <a:r>
              <a:rPr sz="3000" b="0">
                <a:solidFill>
                  <a:srgbClr val="111111"/>
                </a:solidFill>
                <a:latin typeface="Inter"/>
                <a:ea typeface="Inter"/>
                <a:cs typeface="Inter"/>
              </a:rPr>
              <a:t>Ethical limits on the story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0000"/>
              </a:lnSpc>
              <a:spcBef>
                <a:spcPts val="0"/>
              </a:spcBef>
              <a:buFontTx/>
              <a:buNone/>
              <a:defRPr sz="1800" b="0">
                <a:solidFill>
                  <a:srgbClr val="111111"/>
                </a:solidFill>
                <a:latin typeface="Inter"/>
                <a:ea typeface="Inter"/>
                <a:cs typeface="Inter"/>
              </a:defRPr>
            </a:pPr>
            <a:r>
              <a:rPr sz="2025" b="1">
                <a:solidFill>
                  <a:srgbClr val="1F5A73"/>
                </a:solidFill>
                <a:latin typeface="Inter"/>
                <a:ea typeface="Inter"/>
                <a:cs typeface="Inter"/>
              </a:rPr>
              <a:t>Age averages hide inequity</a:t>
            </a:r>
          </a:p>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The data groups young households together and cannot show racial wealth gaps, family assistance, or who actually gains access to ownership.</a:t>
            </a:r>
            <a:endParaRPr sz="1800">
              <a:solidFill>
                <a:prstClr val="black"/>
              </a:solidFill>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0000"/>
              </a:lnSpc>
              <a:spcBef>
                <a:spcPts val="0"/>
              </a:spcBef>
              <a:buFontTx/>
              <a:buNone/>
              <a:defRPr sz="1800" b="0">
                <a:solidFill>
                  <a:srgbClr val="111111"/>
                </a:solidFill>
                <a:latin typeface="Inter"/>
                <a:ea typeface="Inter"/>
                <a:cs typeface="Inter"/>
              </a:defRPr>
            </a:pPr>
            <a:r>
              <a:rPr sz="2025" b="1">
                <a:solidFill>
                  <a:srgbClr val="1F5A73"/>
                </a:solidFill>
                <a:latin typeface="Inter"/>
                <a:ea typeface="Inter"/>
                <a:cs typeface="Inter"/>
              </a:rPr>
              <a:t>Attribution is not causality</a:t>
            </a:r>
          </a:p>
          <a:p xmlns:a="http://schemas.openxmlformats.org/drawingml/2006/main">
            <a:pPr marL="0" indent="0" algn="l">
              <a:lnSpc>
                <a:spcPct val="100000"/>
              </a:lnSpc>
              <a:spcBef>
                <a:spcPts val="1300"/>
              </a:spcBef>
              <a:spcAft>
                <a:spcPts val="1300"/>
              </a:spcAft>
              <a:buFontTx/>
              <a:buNone/>
              <a:defRPr sz="1800" b="0">
                <a:solidFill>
                  <a:srgbClr val="111111"/>
                </a:solidFill>
                <a:latin typeface="Inter"/>
                <a:ea typeface="Inter"/>
                <a:cs typeface="Inter"/>
              </a:defRPr>
            </a:pPr>
            <a:r>
              <a:rPr sz="1800" b="0">
                <a:solidFill>
                  <a:srgbClr val="111111"/>
                </a:solidFill>
                <a:latin typeface="Inter"/>
                <a:ea typeface="Inter"/>
                <a:cs typeface="Inter"/>
              </a:rPr>
              <a:t>The decomposition accounts for payment arithmetic. It does not explain why rates or prices changed, and it is not financial advice.</a:t>
            </a:r>
            <a:endParaRPr sz="1800">
              <a:solidFill>
                <a:prstClr val="black"/>
              </a:solidFill>
              <a:latin typeface="Helvetica Neue"/>
              <a:ea typeface="Helvetica Neue"/>
              <a:cs typeface="Helvetica Neue"/>
            </a:endParaRP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69FA6D2-2D50-9DC8-E5DD-C4C1EAE88D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E7B2D062-27A4-4C85-912F-42FC88B4DB91}"/>
              </a:ext>
            </a:extLst>
          </p:cNvPr>
          <p:cNvSpPr>
            <a:spLocks xmlns:a="http://schemas.openxmlformats.org/drawingml/2006/main" noGrp="1"/>
          </p:cNvSpPr>
          <p:nvPr>
            <p:ph type="title" idx="0"/>
          </p:nvPr>
        </p:nvSpPr>
        <p:spPr>
          <a:xfrm xmlns:a="http://schemas.openxmlformats.org/drawingml/2006/main">
            <a:off x="393700" y="344008"/>
            <a:ext cx="9448800" cy="3669192"/>
          </a:xfrm>
          <a:prstGeom xmlns:a="http://schemas.openxmlformats.org/drawingml/2006/main" prst="rect">
            <a:avLst/>
          </a:prstGeom>
        </p:spPr>
        <p:txBody>
          <a:bodyPr xmlns:a="http://schemas.openxmlformats.org/drawingml/2006/main" spcFirstLastPara="1" vert="horz" wrap="square" lIns="0" tIns="0" rIns="0" bIns="0" anchor="ctr">
            <a:normAutofit fontScale="100000"/>
          </a:bodyPr>
          <a:lstStyle xmlns:a="http://schemas.openxmlformats.org/drawingml/2006/main"/>
          <a:p xmlns:a="http://schemas.openxmlformats.org/drawingml/2006/main">
            <a:pPr algn="l">
              <a:defRPr sz="3150" b="0">
                <a:solidFill>
                  <a:srgbClr val="111111"/>
                </a:solidFill>
                <a:latin typeface="Inter"/>
                <a:ea typeface="Inter"/>
                <a:cs typeface="Inter"/>
              </a:defRPr>
            </a:pPr>
            <a:r>
              <a:rPr sz="3150" b="0">
                <a:solidFill>
                  <a:srgbClr val="111111"/>
                </a:solidFill>
                <a:latin typeface="Inter"/>
                <a:ea typeface="Inter"/>
                <a:cs typeface="Inter"/>
              </a:rPr>
              <a:t>The data tells one story with two barriers: mortgage rates changed what buyers could qualify for, while prices kept the down-payment threshold high</a:t>
            </a:r>
            <a:endParaRPr sz="4800"/>
          </a:p>
        </p:txBody>
      </p:sp>
      <p:sp>
        <p:nvSpPr>
          <p:cNvPr id="4" name="Content Placeholder 15">
            <a:extLst xmlns:a="http://schemas.openxmlformats.org/drawingml/2006/main">
              <a:ext uri="{FF2B5EF4-FFF2-40B4-BE49-F238E27FC236}">
                <a16:creationId xmlns:a16="http://schemas.microsoft.com/office/drawing/2014/main" id="{45D116A3-5F26-E766-2FA6-F7F59839F29D}"/>
              </a:ext>
            </a:extLst>
          </p:cNvPr>
          <p:cNvSpPr>
            <a:spLocks xmlns:a="http://schemas.openxmlformats.org/drawingml/2006/main" noGrp="1"/>
          </p:cNvSpPr>
          <p:nvPr/>
        </p:nvSpPr>
        <p:spPr>
          <a:xfrm xmlns:a="http://schemas.openxmlformats.org/drawingml/2006/main">
            <a:off x="4305300" y="4826000"/>
            <a:ext cx="3568700" cy="1168400"/>
          </a:xfrm>
          <a:prstGeom xmlns:a="http://schemas.openxmlformats.org/drawingml/2006/main" prst="rect">
            <a:avLst/>
          </a:prstGeom>
        </p:spPr>
        <p:txBody>
          <a:bodyPr xmlns:a="http://schemas.openxmlformats.org/drawingml/2006/main" lIns="0" tIns="0" rIns="0" bIns="0" anchor="ctr">
            <a:normAutofit fontScale="82698"/>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2025" b="1">
                <a:solidFill>
                  <a:srgbClr val="9C2F00"/>
                </a:solidFill>
                <a:latin typeface="Inter"/>
                <a:ea typeface="Inter"/>
                <a:cs typeface="Inter"/>
              </a:rPr>
              <a:t>Monthly affordability</a:t>
            </a:r>
          </a:p>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1800" b="0">
                <a:solidFill>
                  <a:srgbClr val="111111"/>
                </a:solidFill>
                <a:latin typeface="Inter"/>
                <a:ea typeface="Inter"/>
                <a:cs typeface="Inter"/>
              </a:rPr>
              <a:t>From 2021 to 2023, the modeled payment rose 54.4%. Rates accounted for 71% of the increase</a:t>
            </a:r>
          </a:p>
        </p:txBody>
      </p:sp>
      <p:sp>
        <p:nvSpPr>
          <p:cNvPr id="7" name="Text Placeholder 16">
            <a:extLst xmlns:a="http://schemas.openxmlformats.org/drawingml/2006/main">
              <a:ext uri="{FF2B5EF4-FFF2-40B4-BE49-F238E27FC236}">
                <a16:creationId xmlns:a16="http://schemas.microsoft.com/office/drawing/2014/main" id="{D7F79475-D2E6-1673-5BE0-6CAB7E3D8E0C}"/>
              </a:ext>
            </a:extLst>
          </p:cNvPr>
          <p:cNvSpPr>
            <a:spLocks xmlns:a="http://schemas.openxmlformats.org/drawingml/2006/main" noGrp="1"/>
          </p:cNvSpPr>
          <p:nvPr/>
        </p:nvSpPr>
        <p:spPr>
          <a:xfrm xmlns:a="http://schemas.openxmlformats.org/drawingml/2006/main">
            <a:off x="8229600" y="4826000"/>
            <a:ext cx="3568700" cy="1168400"/>
          </a:xfrm>
          <a:prstGeom xmlns:a="http://schemas.openxmlformats.org/drawingml/2006/main" prst="rect">
            <a:avLst/>
          </a:prstGeom>
        </p:spPr>
        <p:txBody>
          <a:bodyPr xmlns:a="http://schemas.openxmlformats.org/drawingml/2006/main" lIns="0" tIns="0" rIns="0" bIns="0" anchor="ctr">
            <a:normAutofit fontScale="82698"/>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2025" b="1">
                <a:solidFill>
                  <a:srgbClr val="1F5A73"/>
                </a:solidFill>
                <a:latin typeface="Inter"/>
                <a:ea typeface="Inter"/>
                <a:cs typeface="Inter"/>
              </a:rPr>
              <a:t>Upfront access</a:t>
            </a:r>
          </a:p>
          <a:p xmlns:a="http://schemas.openxmlformats.org/drawingml/2006/main">
            <a:pPr marL="0" indent="0" algn="l">
              <a:lnSpc>
                <a:spcPct val="114000"/>
              </a:lnSpc>
              <a:spcBef>
                <a:spcPts val="0"/>
              </a:spcBef>
              <a:spcAft>
                <a:spcPts val="800"/>
              </a:spcAft>
              <a:buNone/>
              <a:defRPr sz="1800" b="0">
                <a:solidFill>
                  <a:srgbClr val="111111"/>
                </a:solidFill>
                <a:latin typeface="Inter"/>
                <a:ea typeface="Inter"/>
                <a:cs typeface="Inter"/>
              </a:defRPr>
            </a:pPr>
            <a:r>
              <a:rPr sz="1800" b="0">
                <a:solidFill>
                  <a:srgbClr val="111111"/>
                </a:solidFill>
                <a:latin typeface="Inter"/>
                <a:ea typeface="Inter"/>
                <a:cs typeface="Inter"/>
              </a:rPr>
              <a:t>At a 10% saving rate, a 20% down payment grew from 6.7 years in 1984 to 9.3 years in 2024</a:t>
            </a:r>
          </a:p>
        </p:txBody>
      </p:sp>
      <p:sp>
        <p:nvSpPr>
          <p:cNvPr id="8" name="Google Shape;340;p61">
            <a:extLst xmlns:a="http://schemas.openxmlformats.org/drawingml/2006/main">
              <a:ext uri="{FF2B5EF4-FFF2-40B4-BE49-F238E27FC236}">
                <a16:creationId xmlns:a16="http://schemas.microsoft.com/office/drawing/2014/main" id="{E99A300F-A62D-2D4C-A8CC-7A2B40C7F19C}"/>
              </a:ext>
            </a:extLst>
          </p:cNvPr>
          <p:cNvSpPr>
            <a:spLocks xmlns:a="http://schemas.openxmlformats.org/drawingml/2006/main" noGrp="1"/>
          </p:cNvSpPr>
          <p:nvPr/>
        </p:nvSpPr>
        <p:spPr>
          <a:xfrm xmlns:a="http://schemas.openxmlformats.org/drawingml/2006/main">
            <a:off x="4305300" y="4356100"/>
            <a:ext cx="257187" cy="257089"/>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5">
              <a:lumMod val="50000"/>
            </a:schemeClr>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Google Shape;340;p61">
            <a:extLst xmlns:a="http://schemas.openxmlformats.org/drawingml/2006/main">
              <a:ext uri="{FF2B5EF4-FFF2-40B4-BE49-F238E27FC236}">
                <a16:creationId xmlns:a16="http://schemas.microsoft.com/office/drawing/2014/main" id="{9715BEEB-6A24-7E57-79F9-6DC76158D290}"/>
              </a:ext>
            </a:extLst>
          </p:cNvPr>
          <p:cNvSpPr>
            <a:spLocks xmlns:a="http://schemas.openxmlformats.org/drawingml/2006/main" noGrp="1"/>
          </p:cNvSpPr>
          <p:nvPr/>
        </p:nvSpPr>
        <p:spPr>
          <a:xfrm xmlns:a="http://schemas.openxmlformats.org/drawingml/2006/main">
            <a:off x="8224158" y="4356100"/>
            <a:ext cx="257187" cy="257089"/>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5">
              <a:lumMod val="50000"/>
            </a:schemeClr>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1C1C27E6-B24A-134D-A33B-2CE33CAE571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473520999"/>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2026-09-19T02:26:42.2920000Z</dcterms:created>
  <dcterms:modified xsi:type="dcterms:W3CDTF">2026-09-19T02:26:42.2920000Z</dcterms:modified>
</coreProperties>
</file>